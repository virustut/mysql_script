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20620"/>
            <a:ext cx="9144000" cy="1157605"/>
          </a:xfrm>
        </p:spPr>
        <p:txBody>
          <a:bodyPr/>
          <a:lstStyle/>
          <a:p>
            <a:r>
              <a:rPr lang="en-GB" altLang="en-US" dirty="0"/>
              <a:t>MySQL Day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1320" y="3752850"/>
            <a:ext cx="8545830" cy="289052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Day 14: Replication &amp; High Availability Basics (Production Level)</a:t>
            </a:r>
          </a:p>
          <a:p>
            <a:r>
              <a:rPr lang="en-US" altLang="en-US" dirty="0"/>
              <a:t>Today’s topic ensures:</a:t>
            </a:r>
          </a:p>
          <a:p>
            <a:r>
              <a:rPr lang="en-US" altLang="en-US" dirty="0"/>
              <a:t>Zero/Low Downtime</a:t>
            </a:r>
          </a:p>
          <a:p>
            <a:r>
              <a:rPr lang="en-US" altLang="en-US" dirty="0"/>
              <a:t>Disaster Protection</a:t>
            </a:r>
          </a:p>
          <a:p>
            <a:r>
              <a:rPr lang="en-US" altLang="en-US" dirty="0"/>
              <a:t>Read Scalability</a:t>
            </a:r>
          </a:p>
          <a:p>
            <a:r>
              <a:rPr lang="en-US" altLang="en-US" dirty="0"/>
              <a:t>Without replication → High business risk </a:t>
            </a:r>
            <a:r>
              <a:rPr lang="zh-CN" altLang="en-US" dirty="0">
                <a:highlight>
                  <a:srgbClr val="FFFF00"/>
                </a:highlight>
              </a:rPr>
              <a:t>⚠</a:t>
            </a:r>
            <a:r>
              <a:rPr lang="en-US" altLang="en-US" dirty="0"/>
              <a:t>️</a:t>
            </a:r>
          </a:p>
          <a:p>
            <a:r>
              <a:rPr lang="en-US" altLang="en-US" dirty="0"/>
              <a:t>With replication → Reliable system </a:t>
            </a:r>
            <a:r>
              <a:rPr dirty="0">
                <a:solidFill>
                  <a:srgbClr val="00B050"/>
                </a:solidFill>
                <a:sym typeface="+mn-ea"/>
              </a:rPr>
              <a:t>✔</a:t>
            </a:r>
            <a:endParaRPr lang="en-US" altLang="en-US" dirty="0"/>
          </a:p>
        </p:txBody>
      </p:sp>
      <p:pic>
        <p:nvPicPr>
          <p:cNvPr id="4" name="Picture 3" descr="ChatGPT Image Feb 28, 2026, 02_25_17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170" y="0"/>
            <a:ext cx="3630295" cy="2420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69545" y="107315"/>
            <a:ext cx="5080000" cy="67462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sz="2800" b="1" dirty="0"/>
              <a:t>Day 14 Objectives</a:t>
            </a:r>
          </a:p>
          <a:p>
            <a:r>
              <a:rPr sz="1600" dirty="0"/>
              <a:t>By the end of today, you will:</a:t>
            </a:r>
          </a:p>
          <a:p>
            <a:r>
              <a:rPr lang="en-GB" sz="1600" dirty="0">
                <a:solidFill>
                  <a:srgbClr val="00B050"/>
                </a:solidFill>
                <a:sym typeface="+mn-ea"/>
              </a:rPr>
              <a:t> </a:t>
            </a:r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sz="1600" dirty="0"/>
              <a:t>Understand MySQL Replication Architecture</a:t>
            </a:r>
          </a:p>
          <a:p>
            <a:r>
              <a:rPr sz="1600" dirty="0"/>
              <a:t> </a:t>
            </a:r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sz="1600" dirty="0"/>
              <a:t>Configure Master–Slave Replication</a:t>
            </a:r>
          </a:p>
          <a:p>
            <a:r>
              <a:rPr sz="1600" dirty="0"/>
              <a:t> </a:t>
            </a:r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sz="1600" dirty="0"/>
              <a:t>Use GTID Replication</a:t>
            </a:r>
          </a:p>
          <a:p>
            <a:r>
              <a:rPr sz="1600" dirty="0"/>
              <a:t> </a:t>
            </a:r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sz="1600" dirty="0"/>
              <a:t>Monitor Replication Health</a:t>
            </a:r>
          </a:p>
          <a:p>
            <a:r>
              <a:rPr sz="1600" dirty="0"/>
              <a:t> </a:t>
            </a:r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sz="1600" dirty="0"/>
              <a:t>Handle Replication Errors</a:t>
            </a:r>
          </a:p>
          <a:p>
            <a:r>
              <a:rPr sz="1600" dirty="0"/>
              <a:t> </a:t>
            </a:r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sz="1600" dirty="0"/>
              <a:t>Build Basic High Availability</a:t>
            </a:r>
          </a:p>
          <a:p>
            <a:endParaRPr sz="1600" dirty="0"/>
          </a:p>
          <a:p>
            <a:endParaRPr sz="1600" dirty="0"/>
          </a:p>
          <a:p>
            <a:r>
              <a:rPr lang="en-US" altLang="en-US" sz="1600" b="1" dirty="0"/>
              <a:t>What is Replication</a:t>
            </a:r>
            <a:r>
              <a:rPr lang="en-GB" altLang="en-US" sz="1600" b="1" dirty="0"/>
              <a:t> </a:t>
            </a:r>
            <a:r>
              <a:rPr lang="en-US" altLang="en-US" sz="1600" b="1" dirty="0"/>
              <a:t>?</a:t>
            </a:r>
          </a:p>
          <a:p>
            <a:endParaRPr lang="en-US" altLang="en-US" sz="1600" dirty="0"/>
          </a:p>
          <a:p>
            <a:r>
              <a:rPr lang="en-US" altLang="en-US" sz="1600" dirty="0"/>
              <a:t>Replication = Copying data from Primary → Replica.</a:t>
            </a:r>
          </a:p>
          <a:p>
            <a:endParaRPr lang="en-US" altLang="en-US" sz="1600" dirty="0"/>
          </a:p>
          <a:p>
            <a:r>
              <a:rPr lang="en-US" altLang="en-US" sz="1600" dirty="0"/>
              <a:t>Primary (Master)  →  Replica (Slave)</a:t>
            </a:r>
          </a:p>
          <a:p>
            <a:r>
              <a:rPr lang="en-US" altLang="en-US" sz="1600" dirty="0"/>
              <a:t>       </a:t>
            </a:r>
            <a:r>
              <a:rPr lang="en-GB" altLang="en-US" sz="1600" dirty="0"/>
              <a:t>          </a:t>
            </a:r>
            <a:r>
              <a:rPr lang="en-US" altLang="en-US" sz="1600" dirty="0"/>
              <a:t>Writes          </a:t>
            </a:r>
            <a:r>
              <a:rPr lang="en-GB" altLang="en-US" sz="1600" dirty="0"/>
              <a:t>               </a:t>
            </a:r>
            <a:r>
              <a:rPr lang="en-US" altLang="en-US" sz="1600" dirty="0"/>
              <a:t>Reads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r>
              <a:rPr lang="zh-CN" altLang="en-US" sz="1600" dirty="0"/>
              <a:t>🔹</a:t>
            </a:r>
            <a:r>
              <a:rPr lang="en-US" altLang="en-US" sz="1600" dirty="0"/>
              <a:t> Why Companies Use Replication ?</a:t>
            </a:r>
          </a:p>
          <a:p>
            <a:endParaRPr lang="en-US" altLang="en-US" sz="1600" dirty="0"/>
          </a:p>
          <a:p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lang="en-US" altLang="en-US" sz="1600" dirty="0"/>
              <a:t>High Availability</a:t>
            </a:r>
          </a:p>
          <a:p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lang="en-US" altLang="en-US" sz="1600" dirty="0"/>
              <a:t>Load Balancing</a:t>
            </a:r>
          </a:p>
          <a:p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lang="en-US" altLang="en-US" sz="1600" dirty="0"/>
              <a:t>Backup Support</a:t>
            </a:r>
          </a:p>
          <a:p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lang="en-US" altLang="en-US" sz="1600" dirty="0"/>
              <a:t>Disaster Recovery</a:t>
            </a:r>
          </a:p>
          <a:p>
            <a:r>
              <a:rPr sz="1600" dirty="0">
                <a:solidFill>
                  <a:srgbClr val="00B050"/>
                </a:solidFill>
                <a:sym typeface="+mn-ea"/>
              </a:rPr>
              <a:t>✔</a:t>
            </a:r>
            <a:r>
              <a:rPr lang="en-US" altLang="en-US" sz="1600" dirty="0"/>
              <a:t>Reporting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371F6A-C0E6-5778-3272-EEE3C67EFFF3}"/>
              </a:ext>
            </a:extLst>
          </p:cNvPr>
          <p:cNvSpPr txBox="1"/>
          <p:nvPr/>
        </p:nvSpPr>
        <p:spPr>
          <a:xfrm>
            <a:off x="118965" y="101378"/>
            <a:ext cx="623518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How Replication Works (Internals)</a:t>
            </a:r>
          </a:p>
          <a:p>
            <a:pPr>
              <a:buNone/>
            </a:pPr>
            <a:r>
              <a:rPr lang="en-US" sz="1600" b="1" dirty="0"/>
              <a:t>Replication Flow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dirty="0"/>
              <a:t>Client → Master → </a:t>
            </a:r>
            <a:r>
              <a:rPr lang="en-US" sz="1600" dirty="0" err="1"/>
              <a:t>Binlog</a:t>
            </a:r>
            <a:r>
              <a:rPr lang="en-US" sz="1600" dirty="0"/>
              <a:t> → Slave IO → Relay Log → SQL Thread</a:t>
            </a:r>
          </a:p>
          <a:p>
            <a:pPr>
              <a:buNone/>
            </a:pPr>
            <a:endParaRPr lang="en-US" sz="1600" dirty="0"/>
          </a:p>
          <a:p>
            <a:r>
              <a:rPr lang="en-US" sz="1600" dirty="0"/>
              <a:t>Step-by-step:</a:t>
            </a:r>
          </a:p>
          <a:p>
            <a:r>
              <a:rPr lang="en-US" sz="1600" dirty="0"/>
              <a:t>1️⃣ Master writes to </a:t>
            </a:r>
            <a:r>
              <a:rPr lang="en-US" sz="1600" dirty="0" err="1"/>
              <a:t>Binlog</a:t>
            </a:r>
            <a:br>
              <a:rPr lang="en-US" sz="1600" dirty="0"/>
            </a:br>
            <a:r>
              <a:rPr lang="en-US" sz="1600" dirty="0"/>
              <a:t>2️⃣ Slave reads </a:t>
            </a:r>
            <a:r>
              <a:rPr lang="en-US" sz="1600" dirty="0" err="1"/>
              <a:t>Binlog</a:t>
            </a:r>
            <a:br>
              <a:rPr lang="en-US" sz="1600" dirty="0"/>
            </a:br>
            <a:r>
              <a:rPr lang="en-US" sz="1600" dirty="0"/>
              <a:t>3️⃣ Saves to Relay Log</a:t>
            </a:r>
            <a:br>
              <a:rPr lang="en-US" sz="1600" dirty="0"/>
            </a:br>
            <a:r>
              <a:rPr lang="en-US" sz="1600" dirty="0"/>
              <a:t>4️⃣ Executes on Slave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If any step breaks → Replication stops ❌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IN" sz="1600" dirty="0"/>
              <a:t>Replication Types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endParaRPr lang="en-IN" sz="1600" dirty="0"/>
          </a:p>
          <a:p>
            <a:r>
              <a:rPr lang="en-US" sz="1600" b="1" dirty="0"/>
              <a:t>🔹  Classic (Position-Based)</a:t>
            </a:r>
          </a:p>
          <a:p>
            <a:r>
              <a:rPr lang="en-US" sz="1600" dirty="0"/>
              <a:t>Uses:</a:t>
            </a:r>
          </a:p>
          <a:p>
            <a:r>
              <a:rPr lang="en-US" sz="1600" dirty="0" err="1"/>
              <a:t>Binlog</a:t>
            </a:r>
            <a:r>
              <a:rPr lang="en-US" sz="1600" dirty="0"/>
              <a:t> File</a:t>
            </a:r>
          </a:p>
          <a:p>
            <a:r>
              <a:rPr lang="en-US" sz="1600" dirty="0"/>
              <a:t>Position</a:t>
            </a:r>
          </a:p>
          <a:p>
            <a:r>
              <a:rPr lang="en-US" sz="1600" dirty="0"/>
              <a:t>❌ Error-prone</a:t>
            </a:r>
            <a:br>
              <a:rPr lang="en-US" sz="1600" dirty="0"/>
            </a:br>
            <a:r>
              <a:rPr lang="en-US" sz="1600" dirty="0"/>
              <a:t>❌ Manual recovery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F6E2C-279D-B500-392A-298D114558AC}"/>
              </a:ext>
            </a:extLst>
          </p:cNvPr>
          <p:cNvSpPr txBox="1"/>
          <p:nvPr/>
        </p:nvSpPr>
        <p:spPr>
          <a:xfrm>
            <a:off x="3713584" y="4191621"/>
            <a:ext cx="571888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🔹  GTID Replication (Recommended ✅)</a:t>
            </a:r>
          </a:p>
          <a:p>
            <a:pPr>
              <a:buNone/>
            </a:pPr>
            <a:r>
              <a:rPr lang="en-US" sz="1600" dirty="0"/>
              <a:t>GTID = Global Transaction ID</a:t>
            </a:r>
          </a:p>
          <a:p>
            <a:pPr>
              <a:buNone/>
            </a:pPr>
            <a:r>
              <a:rPr lang="en-US" sz="1600" dirty="0"/>
              <a:t>Each transaction has unique ID.</a:t>
            </a:r>
          </a:p>
          <a:p>
            <a:pPr>
              <a:buNone/>
            </a:pPr>
            <a:endParaRPr lang="en-US" sz="1600" dirty="0"/>
          </a:p>
          <a:p>
            <a:r>
              <a:rPr lang="en-US" sz="1600" dirty="0"/>
              <a:t>Benefits:</a:t>
            </a:r>
          </a:p>
          <a:p>
            <a:r>
              <a:rPr lang="en-US" sz="1600" dirty="0"/>
              <a:t>✅ Auto recovery</a:t>
            </a:r>
            <a:br>
              <a:rPr lang="en-US" sz="1600" dirty="0"/>
            </a:br>
            <a:r>
              <a:rPr lang="en-US" sz="1600" dirty="0"/>
              <a:t>✅ Easy failover</a:t>
            </a:r>
            <a:br>
              <a:rPr lang="en-US" sz="1600" dirty="0"/>
            </a:br>
            <a:r>
              <a:rPr lang="en-US" sz="1600" dirty="0"/>
              <a:t>✅ Less mistakes</a:t>
            </a:r>
          </a:p>
          <a:p>
            <a:r>
              <a:rPr lang="en-US" sz="2000" dirty="0"/>
              <a:t>Always use GTID in production 💯</a:t>
            </a:r>
          </a:p>
        </p:txBody>
      </p:sp>
    </p:spTree>
    <p:extLst>
      <p:ext uri="{BB962C8B-B14F-4D97-AF65-F5344CB8AC3E}">
        <p14:creationId xmlns:p14="http://schemas.microsoft.com/office/powerpoint/2010/main" val="341409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BB42C-ED63-3D64-D28A-B7E478C32681}"/>
              </a:ext>
            </a:extLst>
          </p:cNvPr>
          <p:cNvSpPr txBox="1"/>
          <p:nvPr/>
        </p:nvSpPr>
        <p:spPr>
          <a:xfrm>
            <a:off x="137627" y="120039"/>
            <a:ext cx="6097554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Setup GTID Replication (Step-by-Step)</a:t>
            </a:r>
          </a:p>
          <a:p>
            <a:pPr>
              <a:buNone/>
            </a:pPr>
            <a:r>
              <a:rPr lang="en-US" dirty="0"/>
              <a:t>We’ll do </a:t>
            </a:r>
            <a:r>
              <a:rPr lang="en-US" b="1" dirty="0"/>
              <a:t>Primary + Replica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r>
              <a:rPr lang="en-US" sz="1600" b="1" dirty="0"/>
              <a:t>🔹 Step 1: Configure Primary (Master)</a:t>
            </a:r>
          </a:p>
          <a:p>
            <a:r>
              <a:rPr lang="en-US" sz="1600" dirty="0"/>
              <a:t>Edit </a:t>
            </a:r>
            <a:r>
              <a:rPr lang="en-US" sz="1600" dirty="0" err="1"/>
              <a:t>my.cnf</a:t>
            </a:r>
            <a:r>
              <a:rPr lang="en-US" sz="1600" dirty="0"/>
              <a:t>: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[</a:t>
            </a:r>
            <a:r>
              <a:rPr lang="en-US" sz="1600" dirty="0" err="1"/>
              <a:t>mysqld</a:t>
            </a:r>
            <a:r>
              <a:rPr lang="en-US" sz="1600" dirty="0"/>
              <a:t>]</a:t>
            </a:r>
            <a:br>
              <a:rPr lang="en-US" sz="1600" dirty="0"/>
            </a:br>
            <a:r>
              <a:rPr lang="en-US" sz="1600" dirty="0"/>
              <a:t>server-id=1</a:t>
            </a:r>
            <a:br>
              <a:rPr lang="en-US" sz="1600" dirty="0"/>
            </a:br>
            <a:r>
              <a:rPr lang="en-US" sz="1600" dirty="0" err="1"/>
              <a:t>log_bin</a:t>
            </a:r>
            <a:r>
              <a:rPr lang="en-US" sz="1600" dirty="0"/>
              <a:t>=</a:t>
            </a:r>
            <a:r>
              <a:rPr lang="en-US" sz="1600" dirty="0" err="1"/>
              <a:t>mysql</a:t>
            </a:r>
            <a:r>
              <a:rPr lang="en-US" sz="1600" dirty="0"/>
              <a:t>-bin</a:t>
            </a:r>
            <a:br>
              <a:rPr lang="en-US" sz="1600" dirty="0"/>
            </a:br>
            <a:r>
              <a:rPr lang="en-US" sz="1600" dirty="0" err="1"/>
              <a:t>gtid_mode</a:t>
            </a:r>
            <a:r>
              <a:rPr lang="en-US" sz="1600" dirty="0"/>
              <a:t>=ON</a:t>
            </a:r>
            <a:br>
              <a:rPr lang="en-US" sz="1600" dirty="0"/>
            </a:br>
            <a:r>
              <a:rPr lang="en-US" sz="1600" dirty="0" err="1"/>
              <a:t>enforce_gtid_consistency</a:t>
            </a:r>
            <a:r>
              <a:rPr lang="en-US" sz="1600" dirty="0"/>
              <a:t>=ON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IN" sz="1600" dirty="0"/>
              <a:t>Restart MySQL.</a:t>
            </a:r>
          </a:p>
          <a:p>
            <a:pPr>
              <a:buNone/>
            </a:pPr>
            <a:endParaRPr lang="en-IN" sz="1600" dirty="0"/>
          </a:p>
          <a:p>
            <a:r>
              <a:rPr lang="en-US" sz="1600" b="1" dirty="0"/>
              <a:t>🔹 Step 2: Configure Replica (Slave)</a:t>
            </a:r>
          </a:p>
          <a:p>
            <a:r>
              <a:rPr lang="en-US" sz="1600" dirty="0"/>
              <a:t>Edit </a:t>
            </a:r>
            <a:r>
              <a:rPr lang="en-US" sz="1600" dirty="0" err="1"/>
              <a:t>my.cnf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pPr>
              <a:buNone/>
            </a:pPr>
            <a:r>
              <a:rPr lang="en-US" sz="1600" dirty="0"/>
              <a:t>[</a:t>
            </a:r>
            <a:r>
              <a:rPr lang="en-US" sz="1600" dirty="0" err="1"/>
              <a:t>mysqld</a:t>
            </a:r>
            <a:r>
              <a:rPr lang="en-US" sz="1600" dirty="0"/>
              <a:t>]</a:t>
            </a:r>
            <a:br>
              <a:rPr lang="en-US" sz="1600" dirty="0"/>
            </a:br>
            <a:r>
              <a:rPr lang="en-US" sz="1600" dirty="0"/>
              <a:t>server-id=2</a:t>
            </a:r>
            <a:br>
              <a:rPr lang="en-US" sz="1600" dirty="0"/>
            </a:br>
            <a:r>
              <a:rPr lang="en-US" sz="1600" dirty="0" err="1"/>
              <a:t>log_bin</a:t>
            </a:r>
            <a:r>
              <a:rPr lang="en-US" sz="1600" dirty="0"/>
              <a:t>=</a:t>
            </a:r>
            <a:r>
              <a:rPr lang="en-US" sz="1600" dirty="0" err="1"/>
              <a:t>mysql</a:t>
            </a:r>
            <a:r>
              <a:rPr lang="en-US" sz="1600" dirty="0"/>
              <a:t>-bin</a:t>
            </a:r>
            <a:br>
              <a:rPr lang="en-US" sz="1600" dirty="0"/>
            </a:br>
            <a:r>
              <a:rPr lang="en-US" sz="1600" dirty="0" err="1"/>
              <a:t>gtid_mode</a:t>
            </a:r>
            <a:r>
              <a:rPr lang="en-US" sz="1600" dirty="0"/>
              <a:t>=ON</a:t>
            </a:r>
            <a:br>
              <a:rPr lang="en-US" sz="1600" dirty="0"/>
            </a:br>
            <a:r>
              <a:rPr lang="en-US" sz="1600" dirty="0" err="1"/>
              <a:t>enforce_gtid_consistency</a:t>
            </a:r>
            <a:r>
              <a:rPr lang="en-US" sz="1600" dirty="0"/>
              <a:t>=ON</a:t>
            </a:r>
            <a:br>
              <a:rPr lang="en-US" sz="1600" dirty="0"/>
            </a:br>
            <a:r>
              <a:rPr lang="en-US" sz="1600" dirty="0" err="1"/>
              <a:t>read_only</a:t>
            </a:r>
            <a:r>
              <a:rPr lang="en-US" sz="1600" dirty="0"/>
              <a:t>=ON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IN" sz="1600" dirty="0"/>
              <a:t>Restart MySQL.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86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9D23E-DE2C-C2DD-8300-82EE483D7B19}"/>
              </a:ext>
            </a:extLst>
          </p:cNvPr>
          <p:cNvSpPr txBox="1"/>
          <p:nvPr/>
        </p:nvSpPr>
        <p:spPr>
          <a:xfrm>
            <a:off x="213051" y="99917"/>
            <a:ext cx="609755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🔹 Step 3: Take Backup from Master</a:t>
            </a:r>
          </a:p>
          <a:p>
            <a:r>
              <a:rPr lang="en-IN" dirty="0" err="1"/>
              <a:t>mysqldump</a:t>
            </a:r>
            <a:r>
              <a:rPr lang="en-IN" dirty="0"/>
              <a:t> -u root -p --all-databases \</a:t>
            </a:r>
            <a:br>
              <a:rPr lang="en-IN" dirty="0"/>
            </a:br>
            <a:r>
              <a:rPr lang="en-IN" dirty="0"/>
              <a:t>--single-transaction --master-data=2 &gt; </a:t>
            </a:r>
            <a:r>
              <a:rPr lang="en-IN" dirty="0" err="1"/>
              <a:t>full.sql</a:t>
            </a:r>
            <a:endParaRPr lang="en-IN" dirty="0"/>
          </a:p>
          <a:p>
            <a:endParaRPr lang="en-IN" dirty="0"/>
          </a:p>
          <a:p>
            <a:r>
              <a:rPr lang="en-IN" dirty="0"/>
              <a:t>Copy to Slave.</a:t>
            </a:r>
          </a:p>
          <a:p>
            <a:endParaRPr lang="en-IN" dirty="0"/>
          </a:p>
          <a:p>
            <a:r>
              <a:rPr lang="en-US" dirty="0"/>
              <a:t>🔹 Step 4: Restore on Slave</a:t>
            </a:r>
          </a:p>
          <a:p>
            <a:r>
              <a:rPr lang="en-IN" dirty="0" err="1"/>
              <a:t>mysql</a:t>
            </a:r>
            <a:r>
              <a:rPr lang="en-IN" dirty="0"/>
              <a:t> -u root -p &lt; </a:t>
            </a:r>
            <a:r>
              <a:rPr lang="en-IN" dirty="0" err="1"/>
              <a:t>full.sql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🔹 Step 5: Configure Replication</a:t>
            </a:r>
          </a:p>
          <a:p>
            <a:r>
              <a:rPr lang="en-US" dirty="0"/>
              <a:t>On Slave:</a:t>
            </a:r>
          </a:p>
          <a:p>
            <a:endParaRPr lang="en-US" dirty="0"/>
          </a:p>
          <a:p>
            <a:r>
              <a:rPr lang="en-IN" dirty="0"/>
              <a:t>CHANGE MASTER TO</a:t>
            </a:r>
            <a:br>
              <a:rPr lang="en-IN" dirty="0"/>
            </a:br>
            <a:r>
              <a:rPr lang="en-IN" dirty="0"/>
              <a:t>MASTER_HOST='</a:t>
            </a:r>
            <a:r>
              <a:rPr lang="en-IN" dirty="0" err="1"/>
              <a:t>master_ip</a:t>
            </a:r>
            <a:r>
              <a:rPr lang="en-IN" dirty="0"/>
              <a:t>',</a:t>
            </a:r>
            <a:br>
              <a:rPr lang="en-IN" dirty="0"/>
            </a:br>
            <a:r>
              <a:rPr lang="en-IN" dirty="0"/>
              <a:t>MASTER_USER='</a:t>
            </a:r>
            <a:r>
              <a:rPr lang="en-IN" dirty="0" err="1"/>
              <a:t>repl</a:t>
            </a:r>
            <a:r>
              <a:rPr lang="en-IN" dirty="0"/>
              <a:t>',</a:t>
            </a:r>
            <a:br>
              <a:rPr lang="en-IN" dirty="0"/>
            </a:br>
            <a:r>
              <a:rPr lang="en-IN" dirty="0"/>
              <a:t>MASTER_PASSWORD='pass',</a:t>
            </a:r>
            <a:br>
              <a:rPr lang="en-IN" dirty="0"/>
            </a:br>
            <a:r>
              <a:rPr lang="en-IN" dirty="0"/>
              <a:t>MASTER_AUTO_POSITION=1;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START SLAVE;</a:t>
            </a:r>
          </a:p>
          <a:p>
            <a:endParaRPr lang="en-IN" dirty="0"/>
          </a:p>
          <a:p>
            <a:r>
              <a:rPr lang="en-US" dirty="0"/>
              <a:t>🔹 Step 6: Check Status</a:t>
            </a:r>
          </a:p>
          <a:p>
            <a:r>
              <a:rPr lang="en-IN" dirty="0"/>
              <a:t>SHOW SLAVE STATUS\G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09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D21A2-3087-5DC0-7A9F-EF7ED8063433}"/>
              </a:ext>
            </a:extLst>
          </p:cNvPr>
          <p:cNvSpPr txBox="1"/>
          <p:nvPr/>
        </p:nvSpPr>
        <p:spPr>
          <a:xfrm>
            <a:off x="130629" y="121298"/>
            <a:ext cx="609755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Must show:</a:t>
            </a:r>
          </a:p>
          <a:p>
            <a:endParaRPr lang="en-IN" sz="1600" dirty="0"/>
          </a:p>
          <a:p>
            <a:r>
              <a:rPr lang="en-US" sz="1600" dirty="0" err="1"/>
              <a:t>Slave_IO_Running</a:t>
            </a:r>
            <a:r>
              <a:rPr lang="en-US" sz="1600" dirty="0"/>
              <a:t>: Yes</a:t>
            </a:r>
            <a:br>
              <a:rPr lang="en-US" sz="1600" dirty="0"/>
            </a:br>
            <a:r>
              <a:rPr lang="en-US" sz="1600" dirty="0" err="1"/>
              <a:t>Slave_SQL_Running</a:t>
            </a:r>
            <a:r>
              <a:rPr lang="en-US" sz="1600" dirty="0"/>
              <a:t>: Yes</a:t>
            </a:r>
          </a:p>
          <a:p>
            <a:endParaRPr lang="en-US" sz="1600" dirty="0"/>
          </a:p>
          <a:p>
            <a:r>
              <a:rPr lang="en-IN" sz="1600" dirty="0"/>
              <a:t>If both YES → Working ✅</a:t>
            </a:r>
          </a:p>
          <a:p>
            <a:endParaRPr lang="en-IN" sz="1600" dirty="0"/>
          </a:p>
          <a:p>
            <a:r>
              <a:rPr lang="en-US" sz="1600" b="1" dirty="0"/>
              <a:t>Monitor Replication (Daily DBA Task)</a:t>
            </a:r>
          </a:p>
          <a:p>
            <a:r>
              <a:rPr lang="en-US" sz="1600" dirty="0"/>
              <a:t>Check lag:</a:t>
            </a:r>
          </a:p>
          <a:p>
            <a:r>
              <a:rPr lang="en-IN" sz="1600" dirty="0"/>
              <a:t>SHOW SLAVE STATUS\G</a:t>
            </a:r>
          </a:p>
          <a:p>
            <a:endParaRPr lang="en-IN" sz="1600" dirty="0"/>
          </a:p>
          <a:p>
            <a:r>
              <a:rPr lang="en-IN" sz="1600" dirty="0"/>
              <a:t>Look for :</a:t>
            </a:r>
          </a:p>
          <a:p>
            <a:r>
              <a:rPr lang="en-IN" sz="1600" dirty="0" err="1"/>
              <a:t>Seconds_Behind_Master</a:t>
            </a:r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Check thread:</a:t>
            </a:r>
          </a:p>
          <a:p>
            <a:r>
              <a:rPr lang="en-IN" sz="1600" dirty="0"/>
              <a:t>SHOW PROCESSLIST</a:t>
            </a:r>
          </a:p>
          <a:p>
            <a:endParaRPr lang="en-IN" sz="1600" dirty="0"/>
          </a:p>
          <a:p>
            <a:r>
              <a:rPr lang="da-DK" sz="1600" dirty="0"/>
              <a:t>Look for:</a:t>
            </a:r>
          </a:p>
          <a:p>
            <a:r>
              <a:rPr lang="da-DK" sz="1600" dirty="0"/>
              <a:t>Binlog Dump</a:t>
            </a:r>
          </a:p>
          <a:p>
            <a:r>
              <a:rPr lang="da-DK" sz="1600" dirty="0"/>
              <a:t>Slave IO</a:t>
            </a:r>
          </a:p>
          <a:p>
            <a:r>
              <a:rPr lang="da-DK" sz="1600" dirty="0"/>
              <a:t>Slave SQL</a:t>
            </a:r>
            <a:endParaRPr lang="en-IN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F43E3B-D58D-2741-19E4-AC239098D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941269"/>
              </p:ext>
            </p:extLst>
          </p:nvPr>
        </p:nvGraphicFramePr>
        <p:xfrm>
          <a:off x="130629" y="3521700"/>
          <a:ext cx="5262466" cy="1470176"/>
        </p:xfrm>
        <a:graphic>
          <a:graphicData uri="http://schemas.openxmlformats.org/drawingml/2006/table">
            <a:tbl>
              <a:tblPr/>
              <a:tblGrid>
                <a:gridCol w="2631233">
                  <a:extLst>
                    <a:ext uri="{9D8B030D-6E8A-4147-A177-3AD203B41FA5}">
                      <a16:colId xmlns:a16="http://schemas.microsoft.com/office/drawing/2014/main" val="3042022617"/>
                    </a:ext>
                  </a:extLst>
                </a:gridCol>
                <a:gridCol w="2631233">
                  <a:extLst>
                    <a:ext uri="{9D8B030D-6E8A-4147-A177-3AD203B41FA5}">
                      <a16:colId xmlns:a16="http://schemas.microsoft.com/office/drawing/2014/main" val="1288453932"/>
                    </a:ext>
                  </a:extLst>
                </a:gridCol>
              </a:tblGrid>
              <a:tr h="367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847003"/>
                  </a:ext>
                </a:extLst>
              </a:tr>
              <a:tr h="367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Perfect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511755"/>
                  </a:ext>
                </a:extLst>
              </a:tr>
              <a:tr h="367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52931"/>
                  </a:ext>
                </a:extLst>
              </a:tr>
              <a:tr h="367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&gt;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Problem ⚠️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290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21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161F5-CEE8-FF7C-364A-A537E204AB96}"/>
              </a:ext>
            </a:extLst>
          </p:cNvPr>
          <p:cNvSpPr txBox="1"/>
          <p:nvPr/>
        </p:nvSpPr>
        <p:spPr>
          <a:xfrm>
            <a:off x="137627" y="0"/>
            <a:ext cx="473295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Common Replication Problems</a:t>
            </a:r>
          </a:p>
          <a:p>
            <a:pPr>
              <a:buNone/>
            </a:pPr>
            <a:r>
              <a:rPr lang="en-US" b="1" dirty="0"/>
              <a:t>❌ 1. Replication Stopped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IN" dirty="0" err="1"/>
              <a:t>Slave_SQL_Running</a:t>
            </a:r>
            <a:r>
              <a:rPr lang="en-IN" dirty="0"/>
              <a:t>: No</a:t>
            </a:r>
          </a:p>
          <a:p>
            <a:pPr>
              <a:buNone/>
            </a:pPr>
            <a:endParaRPr lang="en-IN" dirty="0"/>
          </a:p>
          <a:p>
            <a:r>
              <a:rPr lang="en-US" dirty="0"/>
              <a:t>Cause:</a:t>
            </a:r>
          </a:p>
          <a:p>
            <a:r>
              <a:rPr lang="en-US" dirty="0"/>
              <a:t>Duplicate key</a:t>
            </a:r>
          </a:p>
          <a:p>
            <a:r>
              <a:rPr lang="en-US" dirty="0"/>
              <a:t>Missing table</a:t>
            </a:r>
          </a:p>
          <a:p>
            <a:r>
              <a:rPr lang="en-US" dirty="0"/>
              <a:t>Corrupt data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❌ 2. Replication Lag</a:t>
            </a:r>
          </a:p>
          <a:p>
            <a:r>
              <a:rPr lang="en-IN" dirty="0"/>
              <a:t>Reasons:</a:t>
            </a:r>
          </a:p>
          <a:p>
            <a:r>
              <a:rPr lang="en-IN" dirty="0"/>
              <a:t>🚫 Slow disk</a:t>
            </a:r>
            <a:br>
              <a:rPr lang="en-IN" dirty="0"/>
            </a:br>
            <a:r>
              <a:rPr lang="en-IN" dirty="0"/>
              <a:t>🚫 Big transactions</a:t>
            </a:r>
            <a:br>
              <a:rPr lang="en-IN" dirty="0"/>
            </a:br>
            <a:r>
              <a:rPr lang="en-IN" dirty="0"/>
              <a:t>🚫 Low memory</a:t>
            </a:r>
            <a:br>
              <a:rPr lang="en-IN" dirty="0"/>
            </a:br>
            <a:r>
              <a:rPr lang="en-IN" dirty="0"/>
              <a:t>🚫 Network delay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❌ 3. Data Mismatch</a:t>
            </a:r>
          </a:p>
          <a:p>
            <a:r>
              <a:rPr lang="en-US" dirty="0"/>
              <a:t>Caused by:</a:t>
            </a:r>
          </a:p>
          <a:p>
            <a:r>
              <a:rPr lang="en-US" dirty="0"/>
              <a:t>🚫 Manual writes on slave</a:t>
            </a:r>
            <a:br>
              <a:rPr lang="en-US" dirty="0"/>
            </a:br>
            <a:r>
              <a:rPr lang="en-US" dirty="0"/>
              <a:t>🚫 Skipped errors</a:t>
            </a:r>
            <a:br>
              <a:rPr lang="en-US" dirty="0"/>
            </a:br>
            <a:r>
              <a:rPr lang="en-US" dirty="0"/>
              <a:t>🚫 Bad restore</a:t>
            </a:r>
          </a:p>
          <a:p>
            <a:r>
              <a:rPr lang="en-US" dirty="0"/>
              <a:t>Never write on slave ❗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392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A4C680-6FA7-4147-6977-95AA27BC2672}"/>
              </a:ext>
            </a:extLst>
          </p:cNvPr>
          <p:cNvSpPr txBox="1"/>
          <p:nvPr/>
        </p:nvSpPr>
        <p:spPr>
          <a:xfrm>
            <a:off x="118966" y="102837"/>
            <a:ext cx="609755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Fix Replication Errors (Basic)</a:t>
            </a:r>
          </a:p>
          <a:p>
            <a:pPr>
              <a:buNone/>
            </a:pPr>
            <a:r>
              <a:rPr lang="en-US" dirty="0"/>
              <a:t>⚠️ Use only in emergency.</a:t>
            </a:r>
          </a:p>
          <a:p>
            <a:pPr>
              <a:buNone/>
            </a:pPr>
            <a:r>
              <a:rPr lang="en-US" dirty="0"/>
              <a:t>Skip one error: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STOP SLAVE;</a:t>
            </a:r>
            <a:br>
              <a:rPr lang="en-US" dirty="0"/>
            </a:br>
            <a:r>
              <a:rPr lang="en-US" dirty="0"/>
              <a:t>SET GLOBAL SQL_SLAVE_SKIP_COUNTER=1;</a:t>
            </a:r>
            <a:br>
              <a:rPr lang="en-US" dirty="0"/>
            </a:br>
            <a:r>
              <a:rPr lang="en-US" dirty="0"/>
              <a:t>START SLAVE;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(Not recommended long-term ❌)</a:t>
            </a:r>
          </a:p>
          <a:p>
            <a:r>
              <a:rPr lang="en-US" dirty="0"/>
              <a:t>Better → Rebuild replica ✅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High Availability (HA) Basics</a:t>
            </a:r>
          </a:p>
          <a:p>
            <a:r>
              <a:rPr lang="en-IN" dirty="0"/>
              <a:t>Replication ≠ Full HA</a:t>
            </a:r>
          </a:p>
          <a:p>
            <a:r>
              <a:rPr lang="en-IN" dirty="0"/>
              <a:t>HA = Auto failover.</a:t>
            </a:r>
          </a:p>
          <a:p>
            <a:r>
              <a:rPr lang="en-IN" dirty="0"/>
              <a:t>Basic HA Setup: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IN" dirty="0"/>
              <a:t>Master ↔ Slave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Failover Script / Tool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VIP / Proxy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08C32-07DA-C5D4-F9D4-E9F00DC3B42E}"/>
              </a:ext>
            </a:extLst>
          </p:cNvPr>
          <p:cNvSpPr txBox="1"/>
          <p:nvPr/>
        </p:nvSpPr>
        <p:spPr>
          <a:xfrm>
            <a:off x="4793602" y="102837"/>
            <a:ext cx="609755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🔹 Common HA Tools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(Advanced topics — later weeks)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US" sz="1600" b="1" dirty="0"/>
              <a:t>Production Best Practices</a:t>
            </a:r>
          </a:p>
          <a:p>
            <a:r>
              <a:rPr lang="en-US" sz="1600" b="1" dirty="0"/>
              <a:t>✅ Do This</a:t>
            </a:r>
          </a:p>
          <a:p>
            <a:r>
              <a:rPr lang="en-US" sz="1600" dirty="0"/>
              <a:t>✔ Use GTID</a:t>
            </a:r>
            <a:br>
              <a:rPr lang="en-US" sz="1600" dirty="0"/>
            </a:br>
            <a:r>
              <a:rPr lang="en-US" sz="1600" dirty="0"/>
              <a:t>✔ Enable </a:t>
            </a:r>
            <a:r>
              <a:rPr lang="en-US" sz="1600" dirty="0" err="1"/>
              <a:t>read_only</a:t>
            </a:r>
            <a:r>
              <a:rPr lang="en-US" sz="1600" dirty="0"/>
              <a:t> on slave</a:t>
            </a:r>
            <a:br>
              <a:rPr lang="en-US" sz="1600" dirty="0"/>
            </a:br>
            <a:r>
              <a:rPr lang="en-US" sz="1600" dirty="0"/>
              <a:t>✔ Monitor lag</a:t>
            </a:r>
            <a:br>
              <a:rPr lang="en-US" sz="1600" dirty="0"/>
            </a:br>
            <a:r>
              <a:rPr lang="en-US" sz="1600" dirty="0"/>
              <a:t>✔ Daily health check</a:t>
            </a:r>
            <a:br>
              <a:rPr lang="en-US" sz="1600" dirty="0"/>
            </a:br>
            <a:r>
              <a:rPr lang="en-US" sz="1600" dirty="0"/>
              <a:t>✔ Regular rebuild test</a:t>
            </a:r>
          </a:p>
          <a:p>
            <a:endParaRPr lang="en-IN" sz="1600" dirty="0"/>
          </a:p>
          <a:p>
            <a:r>
              <a:rPr lang="en-IN" sz="1600" b="1" dirty="0"/>
              <a:t>❌ Avoid This</a:t>
            </a:r>
          </a:p>
          <a:p>
            <a:r>
              <a:rPr lang="en-IN" sz="1600" dirty="0"/>
              <a:t>🚫 Writing on slave</a:t>
            </a:r>
            <a:br>
              <a:rPr lang="en-IN" sz="1600" dirty="0"/>
            </a:br>
            <a:r>
              <a:rPr lang="en-IN" sz="1600" dirty="0"/>
              <a:t>🚫 Skipping many errors</a:t>
            </a:r>
            <a:br>
              <a:rPr lang="en-IN" sz="1600" dirty="0"/>
            </a:br>
            <a:r>
              <a:rPr lang="en-IN" sz="1600" dirty="0"/>
              <a:t>🚫 No monitoring</a:t>
            </a:r>
            <a:br>
              <a:rPr lang="en-IN" sz="1600" dirty="0"/>
            </a:br>
            <a:r>
              <a:rPr lang="en-IN" sz="1600" dirty="0"/>
              <a:t>🚫 Same disk backup</a:t>
            </a:r>
            <a:br>
              <a:rPr lang="en-IN" sz="1600" dirty="0"/>
            </a:br>
            <a:r>
              <a:rPr lang="en-IN" sz="1600" dirty="0"/>
              <a:t>🚫 No documentation</a:t>
            </a:r>
          </a:p>
          <a:p>
            <a:endParaRPr lang="en-IN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B158B9-30F3-B9AE-CFCC-10FE1E230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438144"/>
              </p:ext>
            </p:extLst>
          </p:nvPr>
        </p:nvGraphicFramePr>
        <p:xfrm>
          <a:off x="4906347" y="573227"/>
          <a:ext cx="3955402" cy="1463040"/>
        </p:xfrm>
        <a:graphic>
          <a:graphicData uri="http://schemas.openxmlformats.org/drawingml/2006/table">
            <a:tbl>
              <a:tblPr/>
              <a:tblGrid>
                <a:gridCol w="1977701">
                  <a:extLst>
                    <a:ext uri="{9D8B030D-6E8A-4147-A177-3AD203B41FA5}">
                      <a16:colId xmlns:a16="http://schemas.microsoft.com/office/drawing/2014/main" val="3472368352"/>
                    </a:ext>
                  </a:extLst>
                </a:gridCol>
                <a:gridCol w="1977701">
                  <a:extLst>
                    <a:ext uri="{9D8B030D-6E8A-4147-A177-3AD203B41FA5}">
                      <a16:colId xmlns:a16="http://schemas.microsoft.com/office/drawing/2014/main" val="3963194899"/>
                    </a:ext>
                  </a:extLst>
                </a:gridCol>
              </a:tblGrid>
              <a:tr h="325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312315"/>
                  </a:ext>
                </a:extLst>
              </a:tr>
              <a:tr h="325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 failover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092581"/>
                  </a:ext>
                </a:extLst>
              </a:tr>
              <a:tr h="325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Orchestrator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Topology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99952"/>
                  </a:ext>
                </a:extLst>
              </a:tr>
              <a:tr h="325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ProxySQL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Traffic routing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3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2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AF06CE-2B62-EF19-968A-80F69F7B68DE}"/>
              </a:ext>
            </a:extLst>
          </p:cNvPr>
          <p:cNvSpPr txBox="1"/>
          <p:nvPr/>
        </p:nvSpPr>
        <p:spPr>
          <a:xfrm>
            <a:off x="3048778" y="1997839"/>
            <a:ext cx="60975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Q1: How replication works?</a:t>
            </a:r>
          </a:p>
          <a:p>
            <a:pPr>
              <a:buNone/>
            </a:pPr>
            <a:r>
              <a:rPr lang="en-IN" dirty="0"/>
              <a:t>👉 </a:t>
            </a:r>
            <a:r>
              <a:rPr lang="en-IN" dirty="0" err="1"/>
              <a:t>Binlog</a:t>
            </a:r>
            <a:r>
              <a:rPr lang="en-IN" dirty="0"/>
              <a:t> → Relay → Apply.</a:t>
            </a:r>
          </a:p>
          <a:p>
            <a:pPr>
              <a:buNone/>
            </a:pPr>
            <a:r>
              <a:rPr lang="en-IN" b="1" dirty="0"/>
              <a:t>Q2: GTID advantage?</a:t>
            </a:r>
          </a:p>
          <a:p>
            <a:pPr>
              <a:buNone/>
            </a:pPr>
            <a:r>
              <a:rPr lang="en-IN" dirty="0"/>
              <a:t>👉 Auto positioning.</a:t>
            </a:r>
          </a:p>
          <a:p>
            <a:pPr>
              <a:buNone/>
            </a:pPr>
            <a:r>
              <a:rPr lang="en-IN" b="1" dirty="0"/>
              <a:t>Q3: How check health?</a:t>
            </a:r>
          </a:p>
          <a:p>
            <a:pPr>
              <a:buNone/>
            </a:pPr>
            <a:r>
              <a:rPr lang="en-IN" dirty="0"/>
              <a:t>👉 SHOW SLAVE STATUS.</a:t>
            </a:r>
          </a:p>
          <a:p>
            <a:pPr>
              <a:buNone/>
            </a:pPr>
            <a:r>
              <a:rPr lang="en-IN" b="1" dirty="0"/>
              <a:t>Q4: Lag reasons?</a:t>
            </a:r>
          </a:p>
          <a:p>
            <a:pPr>
              <a:buNone/>
            </a:pPr>
            <a:r>
              <a:rPr lang="en-IN" dirty="0"/>
              <a:t>👉 Disk, network, big TX.</a:t>
            </a:r>
          </a:p>
          <a:p>
            <a:pPr>
              <a:buNone/>
            </a:pPr>
            <a:r>
              <a:rPr lang="en-IN" b="1" dirty="0"/>
              <a:t>Q5: Replication vs HA?</a:t>
            </a:r>
          </a:p>
          <a:p>
            <a:pPr>
              <a:buNone/>
            </a:pPr>
            <a:r>
              <a:rPr lang="en-IN" dirty="0"/>
              <a:t>👉 Copy vs auto failover.</a:t>
            </a:r>
          </a:p>
        </p:txBody>
      </p:sp>
    </p:spTree>
    <p:extLst>
      <p:ext uri="{BB962C8B-B14F-4D97-AF65-F5344CB8AC3E}">
        <p14:creationId xmlns:p14="http://schemas.microsoft.com/office/powerpoint/2010/main" val="158233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818</Words>
  <Application>Microsoft Office PowerPoint</Application>
  <PresentationFormat>Widescreen</PresentationFormat>
  <Paragraphs>192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MySQL Day 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Day 14</dc:title>
  <dc:creator>opo.test1</dc:creator>
  <cp:lastModifiedBy>AJIT YADAV</cp:lastModifiedBy>
  <cp:revision>40</cp:revision>
  <dcterms:created xsi:type="dcterms:W3CDTF">2026-02-28T07:49:00Z</dcterms:created>
  <dcterms:modified xsi:type="dcterms:W3CDTF">2026-02-28T15:57:08Z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7BA166C3BC524E7882B91501D7C8AFB3_11</vt:lpwstr>
  </property>
  <property fmtid="{D5CDD505-2E9C-101B-9397-08002B2CF9AE}" pid="3" name="KSOProductBuildVer">
    <vt:lpwstr>1033-12.2.0.21931</vt:lpwstr>
  </property>
</Properties>
</file>