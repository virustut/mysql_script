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3230" y="2214245"/>
            <a:ext cx="9144000" cy="1421765"/>
          </a:xfrm>
        </p:spPr>
        <p:txBody>
          <a:bodyPr/>
          <a:p>
            <a:r>
              <a:rPr lang="en-US"/>
              <a:t>MySQL Day 16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878580"/>
            <a:ext cx="9144635" cy="2640965"/>
          </a:xfrm>
        </p:spPr>
        <p:txBody>
          <a:bodyPr>
            <a:normAutofit lnSpcReduction="10000"/>
          </a:bodyPr>
          <a:p>
            <a:r>
              <a:rPr lang="en-US" altLang="en-US"/>
              <a:t>MySQL Replication + Auto Failover Practical Lab</a:t>
            </a:r>
            <a:endParaRPr lang="en-US" altLang="en-US"/>
          </a:p>
          <a:p>
            <a:r>
              <a:rPr lang="en-US" altLang="en-US"/>
              <a:t> Lab Architecture</a:t>
            </a:r>
            <a:endParaRPr lang="en-US" altLang="en-US"/>
          </a:p>
          <a:p>
            <a:r>
              <a:rPr lang="en-US" altLang="en-US"/>
              <a:t>Primary Server   →  Replica1</a:t>
            </a:r>
            <a:endParaRPr lang="en-US" altLang="en-US"/>
          </a:p>
          <a:p>
            <a:r>
              <a:rPr lang="en-US" altLang="en-US"/>
              <a:t>                            →  Replica2</a:t>
            </a:r>
            <a:endParaRPr lang="en-US" altLang="en-US"/>
          </a:p>
          <a:p>
            <a:r>
              <a:rPr lang="en-US" altLang="en-US"/>
              <a:t>                     |</a:t>
            </a:r>
            <a:endParaRPr lang="en-US" altLang="en-US"/>
          </a:p>
          <a:p>
            <a:r>
              <a:rPr lang="en-US" altLang="en-US"/>
              <a:t>                Failover Tool</a:t>
            </a:r>
            <a:endParaRPr lang="en-US" altLang="en-US"/>
          </a:p>
        </p:txBody>
      </p:sp>
      <p:pic>
        <p:nvPicPr>
          <p:cNvPr id="4" name="Picture 3" descr="ChatGPT Image Feb 28, 2026, 02_25_17 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81170" y="0"/>
            <a:ext cx="3630295" cy="24206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91440" y="16541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r>
              <a:rPr sz="1600"/>
              <a:t>Example IPs (change as per your setup):</a:t>
            </a:r>
            <a:endParaRPr sz="1600"/>
          </a:p>
        </p:txBody>
      </p:sp>
      <p:graphicFrame>
        <p:nvGraphicFramePr>
          <p:cNvPr id="8" name="Table 7"/>
          <p:cNvGraphicFramePr/>
          <p:nvPr>
            <p:custDataLst>
              <p:tags r:id="rId1"/>
            </p:custDataLst>
          </p:nvPr>
        </p:nvGraphicFramePr>
        <p:xfrm>
          <a:off x="164465" y="502920"/>
          <a:ext cx="5492750" cy="1280160"/>
        </p:xfrm>
        <a:graphic>
          <a:graphicData uri="http://schemas.openxmlformats.org/drawingml/2006/table">
            <a:tbl>
              <a:tblPr/>
              <a:tblGrid>
                <a:gridCol w="2746375"/>
                <a:gridCol w="2746375"/>
              </a:tblGrid>
              <a:tr h="320040">
                <a:tc>
                  <a:txBody>
                    <a:bodyPr/>
                    <a:p>
                      <a:r>
                        <a:rPr sz="1400" b="1"/>
                        <a:t>Server</a:t>
                      </a:r>
                      <a:endParaRPr sz="14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 b="1"/>
                        <a:t>Role</a:t>
                      </a:r>
                      <a:endParaRPr sz="14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20040">
                <a:tc>
                  <a:txBody>
                    <a:bodyPr/>
                    <a:p>
                      <a:r>
                        <a:rPr sz="1400"/>
                        <a:t>Server1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/>
                        <a:t>Primary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20040">
                <a:tc>
                  <a:txBody>
                    <a:bodyPr/>
                    <a:p>
                      <a:r>
                        <a:rPr sz="1400"/>
                        <a:t>Server2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/>
                        <a:t>Replica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20040">
                <a:tc>
                  <a:txBody>
                    <a:bodyPr/>
                    <a:p>
                      <a:r>
                        <a:rPr sz="1400"/>
                        <a:t>Server3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/>
                        <a:t>Replica + Orchestrator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Text Box 8"/>
          <p:cNvSpPr txBox="1"/>
          <p:nvPr/>
        </p:nvSpPr>
        <p:spPr>
          <a:xfrm>
            <a:off x="164465" y="1842453"/>
            <a:ext cx="5080000" cy="4030980"/>
          </a:xfrm>
          <a:prstGeom prst="rect">
            <a:avLst/>
          </a:prstGeom>
        </p:spPr>
        <p:txBody>
          <a:bodyPr>
            <a:spAutoFit/>
          </a:bodyPr>
          <a:p>
            <a:r>
              <a:rPr sz="1600"/>
              <a:t>will install the failover tool (Orchestrator) on Server3</a:t>
            </a:r>
            <a:endParaRPr sz="1600"/>
          </a:p>
          <a:p>
            <a:endParaRPr sz="1600"/>
          </a:p>
          <a:p>
            <a:r>
              <a:rPr lang="en-US" sz="1600" b="1"/>
              <a:t>Note :</a:t>
            </a:r>
            <a:r>
              <a:rPr lang="en-US" sz="1600"/>
              <a:t> </a:t>
            </a:r>
            <a:r>
              <a:rPr lang="en-US" altLang="en-US" sz="1600"/>
              <a:t>In production → separate server (recommended)</a:t>
            </a:r>
            <a:endParaRPr lang="en-US" altLang="en-US" sz="1600"/>
          </a:p>
          <a:p>
            <a:r>
              <a:rPr lang="en-US" altLang="en-US" sz="1600"/>
              <a:t>           In lab/practice → same server is OK </a:t>
            </a:r>
            <a:r>
              <a:rPr sz="1600">
                <a:solidFill>
                  <a:srgbClr val="00B050"/>
                </a:solidFill>
                <a:sym typeface="+mn-ea"/>
              </a:rPr>
              <a:t>✔</a:t>
            </a:r>
            <a:endParaRPr sz="1600">
              <a:solidFill>
                <a:srgbClr val="00B050"/>
              </a:solidFill>
              <a:sym typeface="+mn-ea"/>
            </a:endParaRPr>
          </a:p>
          <a:p>
            <a:endParaRPr lang="en-US" altLang="en-US" sz="1600"/>
          </a:p>
          <a:p>
            <a:r>
              <a:rPr lang="en-US" altLang="en-US" sz="1600"/>
              <a:t>Because Orchestrator:</a:t>
            </a:r>
            <a:endParaRPr lang="en-US" altLang="en-US" sz="1600"/>
          </a:p>
          <a:p>
            <a:endParaRPr lang="en-US" altLang="en-US" sz="1600"/>
          </a:p>
          <a:p>
            <a:r>
              <a:rPr lang="en-US" altLang="en-US" sz="1600">
                <a:solidFill>
                  <a:srgbClr val="00B050"/>
                </a:solidFill>
              </a:rPr>
              <a:t>✔</a:t>
            </a:r>
            <a:r>
              <a:rPr lang="en-US" altLang="en-US" sz="1600"/>
              <a:t> Uses very little resources</a:t>
            </a:r>
            <a:endParaRPr lang="en-US" altLang="en-US" sz="1600"/>
          </a:p>
          <a:p>
            <a:r>
              <a:rPr lang="en-US" altLang="en-US" sz="1600">
                <a:solidFill>
                  <a:srgbClr val="00B050"/>
                </a:solidFill>
              </a:rPr>
              <a:t>✔</a:t>
            </a:r>
            <a:r>
              <a:rPr lang="en-US" altLang="en-US" sz="1600"/>
              <a:t> Just monitors topology</a:t>
            </a:r>
            <a:endParaRPr lang="en-US" altLang="en-US" sz="1600"/>
          </a:p>
          <a:p>
            <a:r>
              <a:rPr lang="en-US" altLang="en-US" sz="1600">
                <a:solidFill>
                  <a:srgbClr val="00B050"/>
                </a:solidFill>
              </a:rPr>
              <a:t>✔</a:t>
            </a:r>
            <a:r>
              <a:rPr lang="en-US" altLang="en-US" sz="1600"/>
              <a:t> Controls failover</a:t>
            </a:r>
            <a:endParaRPr lang="en-US" altLang="en-US" sz="1600"/>
          </a:p>
          <a:p>
            <a:endParaRPr lang="en-US" altLang="en-US" sz="1600"/>
          </a:p>
          <a:p>
            <a:r>
              <a:rPr lang="en-US" altLang="en-US" sz="1600" b="1"/>
              <a:t>1. On Server1 (Primary)</a:t>
            </a:r>
            <a:endParaRPr lang="en-US" altLang="en-US" sz="1600" b="1"/>
          </a:p>
          <a:p>
            <a:endParaRPr lang="en-US" altLang="en-US" sz="1600"/>
          </a:p>
          <a:p>
            <a:r>
              <a:rPr lang="en-US" altLang="en-US" sz="1600"/>
              <a:t>Install MySQL</a:t>
            </a:r>
            <a:endParaRPr lang="en-US" altLang="en-US" sz="1600"/>
          </a:p>
          <a:p>
            <a:r>
              <a:rPr lang="en-US" altLang="en-US" sz="1600"/>
              <a:t>Configure GTID</a:t>
            </a:r>
            <a:endParaRPr lang="en-US" altLang="en-US" sz="1600"/>
          </a:p>
          <a:p>
            <a:r>
              <a:rPr lang="en-US" altLang="en-US" sz="1600"/>
              <a:t>Enable binlog</a:t>
            </a:r>
            <a:endParaRPr lang="en-US" altLang="en-US" sz="1600"/>
          </a:p>
        </p:txBody>
      </p:sp>
      <p:sp>
        <p:nvSpPr>
          <p:cNvPr id="11" name="Text Box 10"/>
          <p:cNvSpPr txBox="1"/>
          <p:nvPr/>
        </p:nvSpPr>
        <p:spPr>
          <a:xfrm>
            <a:off x="5657215" y="165418"/>
            <a:ext cx="5080000" cy="6492875"/>
          </a:xfrm>
          <a:prstGeom prst="rect">
            <a:avLst/>
          </a:prstGeom>
        </p:spPr>
        <p:txBody>
          <a:bodyPr>
            <a:spAutoFit/>
          </a:bodyPr>
          <a:p>
            <a:r>
              <a:rPr sz="1600" b="1"/>
              <a:t>2 On Server2 (Replica1)</a:t>
            </a:r>
            <a:endParaRPr sz="1600" b="1"/>
          </a:p>
          <a:p>
            <a:endParaRPr sz="1600"/>
          </a:p>
          <a:p>
            <a:r>
              <a:rPr lang="en-US" altLang="en-US" sz="1600" b="1"/>
              <a:t>1. On Server1 (Primary)</a:t>
            </a:r>
            <a:endParaRPr lang="en-US" altLang="en-US" sz="1600" b="1"/>
          </a:p>
          <a:p>
            <a:endParaRPr lang="en-US" altLang="en-US" sz="1600"/>
          </a:p>
          <a:p>
            <a:r>
              <a:rPr lang="en-US" altLang="en-US" sz="1600"/>
              <a:t>Install MySQL</a:t>
            </a:r>
            <a:endParaRPr lang="en-US" altLang="en-US" sz="1600"/>
          </a:p>
          <a:p>
            <a:r>
              <a:rPr lang="en-US" altLang="en-US" sz="1600"/>
              <a:t>Configure GTID</a:t>
            </a:r>
            <a:endParaRPr lang="en-US" altLang="en-US" sz="1600"/>
          </a:p>
          <a:p>
            <a:r>
              <a:rPr lang="en-US" altLang="en-US" sz="1600"/>
              <a:t>Enable binlog</a:t>
            </a:r>
            <a:endParaRPr lang="en-US" altLang="en-US" sz="1600"/>
          </a:p>
          <a:p>
            <a:endParaRPr lang="en-US" altLang="en-US" sz="1600"/>
          </a:p>
          <a:p>
            <a:r>
              <a:rPr lang="en-US" altLang="en-US" sz="1600" b="1"/>
              <a:t>2. On Server2 (Replica1)</a:t>
            </a:r>
            <a:endParaRPr lang="en-US" altLang="en-US" sz="1600" b="1"/>
          </a:p>
          <a:p>
            <a:r>
              <a:rPr lang="en-US" altLang="en-US" sz="1600"/>
              <a:t>Setup replication</a:t>
            </a:r>
            <a:endParaRPr lang="en-US" altLang="en-US" sz="1600"/>
          </a:p>
          <a:p>
            <a:endParaRPr lang="en-US" altLang="en-US" sz="1600"/>
          </a:p>
          <a:p>
            <a:r>
              <a:rPr lang="en-US" altLang="en-US" sz="1600" b="1"/>
              <a:t>3. On Server3 (Replica2 + Orchestrator)</a:t>
            </a:r>
            <a:endParaRPr lang="en-US" altLang="en-US" sz="1600" b="1"/>
          </a:p>
          <a:p>
            <a:r>
              <a:rPr lang="en-US" altLang="en-US" sz="1600"/>
              <a:t>Setup replication</a:t>
            </a:r>
            <a:endParaRPr lang="en-US" altLang="en-US" sz="1600"/>
          </a:p>
          <a:p>
            <a:r>
              <a:rPr lang="en-US" altLang="en-US" sz="1600"/>
              <a:t>Install Orchestrator</a:t>
            </a:r>
            <a:endParaRPr lang="en-US" altLang="en-US" sz="1600"/>
          </a:p>
          <a:p>
            <a:endParaRPr lang="en-US" altLang="en-US" sz="1600"/>
          </a:p>
          <a:p>
            <a:r>
              <a:rPr lang="en-US" altLang="en-US" sz="1600" b="1"/>
              <a:t>Failover Flow (With 3 Servers)</a:t>
            </a:r>
            <a:endParaRPr lang="en-US" altLang="en-US" sz="1600" b="1"/>
          </a:p>
          <a:p>
            <a:endParaRPr lang="en-US" altLang="en-US" sz="1600"/>
          </a:p>
          <a:p>
            <a:r>
              <a:rPr lang="en-US" altLang="en-US" sz="1600"/>
              <a:t>Run on Server 1</a:t>
            </a:r>
            <a:endParaRPr lang="en-US" altLang="en-US" sz="1600"/>
          </a:p>
          <a:p>
            <a:r>
              <a:rPr lang="en-US" altLang="en-US" sz="1600"/>
              <a:t>systemctl stop mysql   # on Server1</a:t>
            </a:r>
            <a:endParaRPr lang="en-US" altLang="en-US" sz="1600"/>
          </a:p>
          <a:p>
            <a:endParaRPr lang="en-US" altLang="en-US" sz="1600"/>
          </a:p>
          <a:p>
            <a:r>
              <a:rPr lang="en-US" altLang="en-US" sz="1600"/>
              <a:t>Then:</a:t>
            </a:r>
            <a:endParaRPr lang="en-US" altLang="en-US" sz="1600"/>
          </a:p>
          <a:p>
            <a:endParaRPr lang="en-US" altLang="en-US" sz="1600"/>
          </a:p>
          <a:p>
            <a:r>
              <a:rPr lang="en-US" altLang="en-US" sz="1600"/>
              <a:t>➡</a:t>
            </a:r>
            <a:r>
              <a:rPr lang="" altLang="en-US" sz="1600"/>
              <a:t>️</a:t>
            </a:r>
            <a:r>
              <a:rPr lang="en-US" altLang="en-US" sz="1600"/>
              <a:t> Orchestrator (on Server3) detects failure</a:t>
            </a:r>
            <a:endParaRPr lang="en-US" altLang="en-US" sz="1600"/>
          </a:p>
          <a:p>
            <a:r>
              <a:rPr lang="en-US" altLang="en-US" sz="1600"/>
              <a:t>➡</a:t>
            </a:r>
            <a:r>
              <a:rPr lang="" altLang="en-US" sz="1600"/>
              <a:t>️</a:t>
            </a:r>
            <a:r>
              <a:rPr lang="en-US" altLang="en-US" sz="1600"/>
              <a:t> Promotes Server2 or Server3</a:t>
            </a:r>
            <a:endParaRPr lang="en-US" altLang="en-US" sz="1600"/>
          </a:p>
          <a:p>
            <a:r>
              <a:rPr lang="en-US" altLang="en-US" sz="1600"/>
              <a:t>➡</a:t>
            </a:r>
            <a:r>
              <a:rPr lang="" altLang="en-US" sz="1600"/>
              <a:t>️</a:t>
            </a:r>
            <a:r>
              <a:rPr lang="en-US" altLang="en-US" sz="1600"/>
              <a:t> Reconfigures remaining replica</a:t>
            </a:r>
            <a:endParaRPr lang="en-US" altLang="en-US" sz="1600"/>
          </a:p>
          <a:p>
            <a:r>
              <a:rPr lang="en-US" altLang="en-US" sz="1600"/>
              <a:t>➡</a:t>
            </a:r>
            <a:r>
              <a:rPr lang="" altLang="en-US" sz="1600"/>
              <a:t>️</a:t>
            </a:r>
            <a:r>
              <a:rPr lang="en-US" altLang="en-US" sz="1600"/>
              <a:t> Cluster stays alive</a:t>
            </a:r>
            <a:r>
              <a:rPr sz="1600">
                <a:solidFill>
                  <a:srgbClr val="00B050"/>
                </a:solidFill>
                <a:sym typeface="+mn-ea"/>
              </a:rPr>
              <a:t>✔</a:t>
            </a:r>
            <a:endParaRPr lang="en-US" altLang="en-US"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111125" y="164783"/>
            <a:ext cx="5080000" cy="6247130"/>
          </a:xfrm>
          <a:prstGeom prst="rect">
            <a:avLst/>
          </a:prstGeom>
        </p:spPr>
        <p:txBody>
          <a:bodyPr>
            <a:spAutoFit/>
          </a:bodyPr>
          <a:p>
            <a:r>
              <a:rPr sz="1600" b="1"/>
              <a:t>STEP 1: Install MySQL (On ALL 3 Servers)</a:t>
            </a:r>
            <a:endParaRPr sz="1600" b="1"/>
          </a:p>
          <a:p>
            <a:endParaRPr sz="1600"/>
          </a:p>
          <a:p>
            <a:r>
              <a:rPr lang="en-US" altLang="en-US" sz="1600"/>
              <a:t>Run on Server1, Server2, Server3:</a:t>
            </a:r>
            <a:endParaRPr lang="en-US" altLang="en-US" sz="1600"/>
          </a:p>
          <a:p>
            <a:endParaRPr lang="en-US" altLang="en-US" sz="1600"/>
          </a:p>
          <a:p>
            <a:r>
              <a:rPr lang="en-US" altLang="en-US" sz="1600"/>
              <a:t>sudo apt update</a:t>
            </a:r>
            <a:endParaRPr lang="en-US" altLang="en-US" sz="1600"/>
          </a:p>
          <a:p>
            <a:r>
              <a:rPr lang="en-US" altLang="en-US" sz="1600"/>
              <a:t>sudo apt install mysql-server -y</a:t>
            </a:r>
            <a:endParaRPr lang="en-US" altLang="en-US" sz="1600"/>
          </a:p>
          <a:p>
            <a:r>
              <a:rPr lang="en-US" altLang="en-US" sz="1600"/>
              <a:t>systemctl start mysql</a:t>
            </a:r>
            <a:endParaRPr lang="en-US" altLang="en-US" sz="1600"/>
          </a:p>
          <a:p>
            <a:r>
              <a:rPr lang="en-US" altLang="en-US" sz="1600"/>
              <a:t>systemctl enable mysql</a:t>
            </a:r>
            <a:endParaRPr lang="en-US" altLang="en-US" sz="1600"/>
          </a:p>
          <a:p>
            <a:endParaRPr lang="en-US" altLang="en-US" sz="1600"/>
          </a:p>
          <a:p>
            <a:r>
              <a:rPr lang="en-US" altLang="en-US" sz="1600"/>
              <a:t>Check version:</a:t>
            </a:r>
            <a:endParaRPr lang="en-US" altLang="en-US" sz="1600"/>
          </a:p>
          <a:p>
            <a:r>
              <a:rPr lang="en-US" altLang="en-US" sz="1600"/>
              <a:t>mysql --version</a:t>
            </a:r>
            <a:endParaRPr lang="en-US" altLang="en-US" sz="1600"/>
          </a:p>
          <a:p>
            <a:endParaRPr lang="en-US" altLang="en-US" sz="1600"/>
          </a:p>
          <a:p>
            <a:r>
              <a:rPr lang="en-US" altLang="en-US" sz="1600" b="1"/>
              <a:t>STEP 2: Configure MySQL (server-id + GTID)</a:t>
            </a:r>
            <a:endParaRPr lang="en-US" altLang="en-US" sz="1600" b="1"/>
          </a:p>
          <a:p>
            <a:r>
              <a:rPr lang="en-US" altLang="en-US" sz="1600"/>
              <a:t>edit config file on each server .</a:t>
            </a:r>
            <a:endParaRPr lang="en-US" altLang="en-US" sz="1600"/>
          </a:p>
          <a:p>
            <a:endParaRPr lang="en-US" altLang="en-US" sz="1600"/>
          </a:p>
          <a:p>
            <a:r>
              <a:rPr lang="en-US" altLang="en-US" sz="1600"/>
              <a:t>sudo nano /etc/mysql/mysql.conf.d/mysqld.cnf</a:t>
            </a:r>
            <a:endParaRPr lang="en-US" altLang="en-US" sz="1600"/>
          </a:p>
          <a:p>
            <a:endParaRPr lang="en-US" altLang="en-US" sz="1600"/>
          </a:p>
          <a:p>
            <a:r>
              <a:rPr lang="zh-CN" altLang="en-US" sz="1600"/>
              <a:t>🔹</a:t>
            </a:r>
            <a:r>
              <a:rPr lang="en-US" altLang="en-US" sz="1600"/>
              <a:t> Server1 (Primary)</a:t>
            </a:r>
            <a:endParaRPr lang="en-US" altLang="en-US" sz="1600"/>
          </a:p>
          <a:p>
            <a:endParaRPr lang="en-US" altLang="en-US" sz="1600"/>
          </a:p>
          <a:p>
            <a:r>
              <a:rPr lang="en-US" altLang="en-US" sz="1600"/>
              <a:t>server-id=1</a:t>
            </a:r>
            <a:endParaRPr lang="en-US" altLang="en-US" sz="1600"/>
          </a:p>
          <a:p>
            <a:r>
              <a:rPr lang="en-US" altLang="en-US" sz="1600"/>
              <a:t>log-bin=mysql-bin</a:t>
            </a:r>
            <a:endParaRPr lang="en-US" altLang="en-US" sz="1600"/>
          </a:p>
          <a:p>
            <a:r>
              <a:rPr lang="en-US" altLang="en-US" sz="1600"/>
              <a:t>gtid-mode=ON</a:t>
            </a:r>
            <a:endParaRPr lang="en-US" altLang="en-US" sz="1600"/>
          </a:p>
          <a:p>
            <a:r>
              <a:rPr lang="en-US" altLang="en-US" sz="1600"/>
              <a:t>enforce-gtid-consistency=ON</a:t>
            </a:r>
            <a:endParaRPr lang="en-US" altLang="en-US" sz="1600"/>
          </a:p>
          <a:p>
            <a:endParaRPr lang="en-US" altLang="en-US" sz="1600"/>
          </a:p>
          <a:p>
            <a:endParaRPr lang="en-US" altLang="en-US"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201295" y="185738"/>
            <a:ext cx="5080000" cy="6492875"/>
          </a:xfrm>
          <a:prstGeom prst="rect">
            <a:avLst/>
          </a:prstGeom>
        </p:spPr>
        <p:txBody>
          <a:bodyPr>
            <a:spAutoFit/>
          </a:bodyPr>
          <a:p>
            <a:r>
              <a:rPr sz="1600"/>
              <a:t>🔹 Server2 (Replica1)</a:t>
            </a:r>
            <a:endParaRPr sz="1600"/>
          </a:p>
          <a:p>
            <a:r>
              <a:rPr lang="en-US" altLang="en-US" sz="1600"/>
              <a:t>server-id=2</a:t>
            </a:r>
            <a:endParaRPr lang="en-US" altLang="en-US" sz="1600"/>
          </a:p>
          <a:p>
            <a:r>
              <a:rPr lang="en-US" altLang="en-US" sz="1600"/>
              <a:t>log-bin=mysql-bin</a:t>
            </a:r>
            <a:endParaRPr lang="en-US" altLang="en-US" sz="1600"/>
          </a:p>
          <a:p>
            <a:r>
              <a:rPr lang="en-US" altLang="en-US" sz="1600"/>
              <a:t>gtid-mode=ON</a:t>
            </a:r>
            <a:endParaRPr lang="en-US" altLang="en-US" sz="1600"/>
          </a:p>
          <a:p>
            <a:r>
              <a:rPr lang="en-US" altLang="en-US" sz="1600"/>
              <a:t>enforce-gtid-consistency=ON</a:t>
            </a:r>
            <a:endParaRPr lang="en-US" altLang="en-US" sz="1600"/>
          </a:p>
          <a:p>
            <a:r>
              <a:rPr lang="en-US" altLang="en-US" sz="1600"/>
              <a:t>read-only=ON</a:t>
            </a:r>
            <a:endParaRPr lang="en-US" altLang="en-US" sz="1600"/>
          </a:p>
          <a:p>
            <a:endParaRPr lang="en-US" altLang="en-US" sz="1600"/>
          </a:p>
          <a:p>
            <a:r>
              <a:rPr lang="zh-CN" altLang="en-US" sz="1600"/>
              <a:t>🔹</a:t>
            </a:r>
            <a:r>
              <a:rPr lang="en-US" altLang="en-US" sz="1600"/>
              <a:t> Server3 (Replica2)</a:t>
            </a:r>
            <a:endParaRPr lang="en-US" altLang="en-US" sz="1600"/>
          </a:p>
          <a:p>
            <a:r>
              <a:rPr lang="en-US" altLang="en-US" sz="1600"/>
              <a:t>server-id=3</a:t>
            </a:r>
            <a:endParaRPr lang="en-US" altLang="en-US" sz="1600"/>
          </a:p>
          <a:p>
            <a:r>
              <a:rPr lang="en-US" altLang="en-US" sz="1600"/>
              <a:t>log-bin=mysql-bin</a:t>
            </a:r>
            <a:endParaRPr lang="en-US" altLang="en-US" sz="1600"/>
          </a:p>
          <a:p>
            <a:r>
              <a:rPr lang="en-US" altLang="en-US" sz="1600"/>
              <a:t>gtid-mode=ON</a:t>
            </a:r>
            <a:endParaRPr lang="en-US" altLang="en-US" sz="1600"/>
          </a:p>
          <a:p>
            <a:r>
              <a:rPr lang="en-US" altLang="en-US" sz="1600"/>
              <a:t>enforce-gtid-consistency=ON</a:t>
            </a:r>
            <a:endParaRPr lang="en-US" altLang="en-US" sz="1600"/>
          </a:p>
          <a:p>
            <a:r>
              <a:rPr lang="en-US" altLang="en-US" sz="1600"/>
              <a:t>read-only=ON</a:t>
            </a:r>
            <a:endParaRPr lang="en-US" altLang="en-US" sz="1600"/>
          </a:p>
          <a:p>
            <a:endParaRPr lang="en-US" altLang="en-US" sz="1600"/>
          </a:p>
          <a:p>
            <a:r>
              <a:rPr lang="en-US" altLang="en-US" sz="1600"/>
              <a:t>Restart MySQL on all servers:</a:t>
            </a:r>
            <a:endParaRPr lang="en-US" altLang="en-US" sz="1600"/>
          </a:p>
          <a:p>
            <a:endParaRPr lang="en-US" altLang="en-US" sz="1600"/>
          </a:p>
          <a:p>
            <a:r>
              <a:rPr lang="en-US" altLang="en-US" sz="1600" b="1"/>
              <a:t>STEP 3: Create Replication User (On Primary Only)</a:t>
            </a:r>
            <a:endParaRPr lang="en-US" altLang="en-US" sz="1600" b="1"/>
          </a:p>
          <a:p>
            <a:endParaRPr lang="en-US" altLang="en-US" sz="1600"/>
          </a:p>
          <a:p>
            <a:r>
              <a:rPr lang="en-US" altLang="en-US" sz="1600"/>
              <a:t>Login Server 1:</a:t>
            </a:r>
            <a:endParaRPr lang="en-US" altLang="en-US" sz="1600"/>
          </a:p>
          <a:p>
            <a:r>
              <a:rPr lang="en-US" altLang="en-US" sz="1600"/>
              <a:t>mysql -u root -p</a:t>
            </a:r>
            <a:endParaRPr lang="en-US" altLang="en-US" sz="1600"/>
          </a:p>
          <a:p>
            <a:endParaRPr lang="en-US" altLang="en-US" sz="1600"/>
          </a:p>
          <a:p>
            <a:r>
              <a:rPr lang="en-US" altLang="en-US" sz="1600"/>
              <a:t>CREATE USER 'repl'@'%' IDENTIFIED BY 'repl@123';</a:t>
            </a:r>
            <a:endParaRPr lang="en-US" altLang="en-US" sz="1600"/>
          </a:p>
          <a:p>
            <a:r>
              <a:rPr lang="en-US" altLang="en-US" sz="1600"/>
              <a:t>GRANT REPLICATION SLAVE ON *.* TO 'repl'@'%';</a:t>
            </a:r>
            <a:endParaRPr lang="en-US" altLang="en-US" sz="1600"/>
          </a:p>
          <a:p>
            <a:r>
              <a:rPr lang="en-US" altLang="en-US" sz="1600"/>
              <a:t>FLUSH PRIVILEGES;</a:t>
            </a:r>
            <a:endParaRPr lang="en-US" altLang="en-US" sz="1600"/>
          </a:p>
          <a:p>
            <a:endParaRPr lang="en-US" altLang="en-US" sz="1600"/>
          </a:p>
          <a:p>
            <a:endParaRPr lang="en-US" altLang="en-US"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Box 2"/>
          <p:cNvSpPr txBox="1"/>
          <p:nvPr/>
        </p:nvSpPr>
        <p:spPr>
          <a:xfrm>
            <a:off x="131445" y="114618"/>
            <a:ext cx="5080000" cy="6739255"/>
          </a:xfrm>
          <a:prstGeom prst="rect">
            <a:avLst/>
          </a:prstGeom>
        </p:spPr>
        <p:txBody>
          <a:bodyPr>
            <a:spAutoFit/>
          </a:bodyPr>
          <a:p>
            <a:r>
              <a:rPr sz="1600" b="1"/>
              <a:t>STEP 4: Configure Replication (On Server2 &amp; Server3)</a:t>
            </a:r>
            <a:endParaRPr sz="1600" b="1"/>
          </a:p>
          <a:p>
            <a:endParaRPr sz="1600"/>
          </a:p>
          <a:p>
            <a:r>
              <a:rPr lang="en-US" altLang="en-US" sz="1600"/>
              <a:t>Login on Server2 and Server3:</a:t>
            </a:r>
            <a:endParaRPr lang="en-US" altLang="en-US" sz="1600"/>
          </a:p>
          <a:p>
            <a:endParaRPr lang="en-US" altLang="en-US" sz="1600"/>
          </a:p>
          <a:p>
            <a:r>
              <a:rPr lang="en-US" altLang="en-US" sz="1600"/>
              <a:t>mysql -u root -p</a:t>
            </a:r>
            <a:endParaRPr lang="en-US" altLang="en-US" sz="1600"/>
          </a:p>
          <a:p>
            <a:endParaRPr lang="en-US" altLang="en-US" sz="1600"/>
          </a:p>
          <a:p>
            <a:r>
              <a:rPr lang="en-US" altLang="en-US" sz="1600"/>
              <a:t>CHANGE MASTER TO</a:t>
            </a:r>
            <a:endParaRPr lang="en-US" altLang="en-US" sz="1600"/>
          </a:p>
          <a:p>
            <a:r>
              <a:rPr lang="en-US" altLang="en-US" sz="1600"/>
              <a:t>MASTER_HOST='192.168.1.10',</a:t>
            </a:r>
            <a:endParaRPr lang="en-US" altLang="en-US" sz="1600"/>
          </a:p>
          <a:p>
            <a:r>
              <a:rPr lang="en-US" altLang="en-US" sz="1600"/>
              <a:t>MASTER_USER='repl',</a:t>
            </a:r>
            <a:endParaRPr lang="en-US" altLang="en-US" sz="1600"/>
          </a:p>
          <a:p>
            <a:r>
              <a:rPr lang="en-US" altLang="en-US" sz="1600"/>
              <a:t>MASTER_PASSWORD='repl@123',</a:t>
            </a:r>
            <a:endParaRPr lang="en-US" altLang="en-US" sz="1600"/>
          </a:p>
          <a:p>
            <a:r>
              <a:rPr lang="en-US" altLang="en-US" sz="1600"/>
              <a:t>MASTER_AUTO_POSITION=1;</a:t>
            </a:r>
            <a:endParaRPr lang="en-US" altLang="en-US" sz="1600"/>
          </a:p>
          <a:p>
            <a:endParaRPr lang="en-US" altLang="en-US" sz="1600"/>
          </a:p>
          <a:p>
            <a:r>
              <a:rPr lang="en-US" altLang="en-US" sz="1600"/>
              <a:t>START SLAVE;</a:t>
            </a:r>
            <a:endParaRPr lang="en-US" altLang="en-US" sz="1600"/>
          </a:p>
          <a:p>
            <a:endParaRPr lang="en-US" altLang="en-US" sz="1600"/>
          </a:p>
          <a:p>
            <a:r>
              <a:rPr lang="en-US" altLang="en-US" sz="1600"/>
              <a:t>Note : (MySQL 8+ → START REPLICA;)</a:t>
            </a:r>
            <a:endParaRPr lang="en-US" altLang="en-US" sz="1600"/>
          </a:p>
          <a:p>
            <a:endParaRPr lang="en-US" altLang="en-US" sz="1600"/>
          </a:p>
          <a:p>
            <a:r>
              <a:rPr lang="en-US" altLang="en-US" sz="1600"/>
              <a:t>Check status:</a:t>
            </a:r>
            <a:endParaRPr lang="en-US" altLang="en-US" sz="1600"/>
          </a:p>
          <a:p>
            <a:r>
              <a:rPr lang="en-US" altLang="en-US" sz="1600"/>
              <a:t>SHOW SLAVE STATUS\G</a:t>
            </a:r>
            <a:endParaRPr lang="en-US" altLang="en-US" sz="1600"/>
          </a:p>
          <a:p>
            <a:endParaRPr lang="en-US" altLang="en-US" sz="1600"/>
          </a:p>
          <a:p>
            <a:r>
              <a:rPr lang="en-US" altLang="en-US" sz="1600" b="1"/>
              <a:t>STEP 5: Test Replication</a:t>
            </a:r>
            <a:endParaRPr lang="en-US" altLang="en-US" sz="1600" b="1"/>
          </a:p>
          <a:p>
            <a:r>
              <a:rPr lang="en-US" altLang="en-US" sz="1600"/>
              <a:t>On Server1 (Primary):</a:t>
            </a:r>
            <a:endParaRPr lang="en-US" altLang="en-US" sz="1600"/>
          </a:p>
          <a:p>
            <a:endParaRPr lang="en-US" altLang="en-US" sz="1600"/>
          </a:p>
          <a:p>
            <a:r>
              <a:rPr lang="en-US" altLang="en-US" sz="1600"/>
              <a:t>CREATE DATABASE testdb;</a:t>
            </a:r>
            <a:endParaRPr lang="en-US" altLang="en-US" sz="1600"/>
          </a:p>
          <a:p>
            <a:r>
              <a:rPr lang="en-US" altLang="en-US" sz="1600"/>
              <a:t>USE testdb;</a:t>
            </a:r>
            <a:endParaRPr lang="en-US" altLang="en-US" sz="1600"/>
          </a:p>
          <a:p>
            <a:endParaRPr lang="en-US" altLang="en-US" sz="1600"/>
          </a:p>
          <a:p>
            <a:r>
              <a:rPr lang="en-US" altLang="en-US" sz="1600"/>
              <a:t>CREATE TABLE t1(id INT);</a:t>
            </a:r>
            <a:endParaRPr lang="en-US" altLang="en-US" sz="1600"/>
          </a:p>
          <a:p>
            <a:r>
              <a:rPr lang="en-US" altLang="en-US" sz="1600"/>
              <a:t>INSERT INTO t1 VALUES(1);</a:t>
            </a:r>
            <a:endParaRPr lang="en-US" altLang="en-US"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100965" y="105093"/>
            <a:ext cx="5080000" cy="6585585"/>
          </a:xfrm>
          <a:prstGeom prst="rect">
            <a:avLst/>
          </a:prstGeom>
        </p:spPr>
        <p:txBody>
          <a:bodyPr>
            <a:spAutoFit/>
          </a:bodyPr>
          <a:p>
            <a:r>
              <a:rPr sz="1600"/>
              <a:t>On Server2 / Server3:</a:t>
            </a:r>
            <a:endParaRPr sz="1600"/>
          </a:p>
          <a:p>
            <a:endParaRPr sz="1400"/>
          </a:p>
          <a:p>
            <a:r>
              <a:rPr lang="en-US" altLang="en-US" sz="1400"/>
              <a:t>SELECT * FROM testdb.t1;</a:t>
            </a:r>
            <a:endParaRPr lang="en-US" altLang="en-US" sz="1400"/>
          </a:p>
          <a:p>
            <a:endParaRPr lang="en-US" altLang="en-US" sz="1400"/>
          </a:p>
          <a:p>
            <a:r>
              <a:rPr lang="en-US" altLang="en-US" sz="1400" b="1"/>
              <a:t>STEP 6: Install Orchestrator (On Server3 Only)</a:t>
            </a:r>
            <a:endParaRPr lang="en-US" altLang="en-US" sz="1400" b="1"/>
          </a:p>
          <a:p>
            <a:endParaRPr lang="en-US" altLang="en-US" sz="1400"/>
          </a:p>
          <a:p>
            <a:r>
              <a:rPr lang="en-US" altLang="en-US" sz="1400"/>
              <a:t>Run on Server3:</a:t>
            </a:r>
            <a:endParaRPr lang="en-US" altLang="en-US" sz="1400"/>
          </a:p>
          <a:p>
            <a:r>
              <a:rPr lang="en-US" altLang="en-US" sz="1400"/>
              <a:t>wget https://github.com/openark/orchestrator/releases/download/v3.2.6/orchestrator-3.2.6-linux-amd64.tar.gz</a:t>
            </a:r>
            <a:endParaRPr lang="en-US" altLang="en-US" sz="1400"/>
          </a:p>
          <a:p>
            <a:endParaRPr lang="en-US" altLang="en-US" sz="1400"/>
          </a:p>
          <a:p>
            <a:r>
              <a:rPr lang="en-US" altLang="en-US" sz="1400"/>
              <a:t>tar -xvf orchestrator-3.2.6-linux-amd64.tar.gz</a:t>
            </a:r>
            <a:endParaRPr lang="en-US" altLang="en-US" sz="1400"/>
          </a:p>
          <a:p>
            <a:r>
              <a:rPr lang="en-US" altLang="en-US" sz="1400"/>
              <a:t>cd orchestrator</a:t>
            </a:r>
            <a:endParaRPr lang="en-US" altLang="en-US" sz="1400"/>
          </a:p>
          <a:p>
            <a:endParaRPr lang="en-US" altLang="en-US" sz="1400"/>
          </a:p>
          <a:p>
            <a:r>
              <a:rPr lang="en-US" altLang="en-US" sz="1400"/>
              <a:t>Create config:</a:t>
            </a:r>
            <a:endParaRPr lang="en-US" altLang="en-US" sz="1400"/>
          </a:p>
          <a:p>
            <a:r>
              <a:rPr lang="en-US" altLang="en-US" sz="1400"/>
              <a:t>nano conf/orchestrator.conf.json</a:t>
            </a:r>
            <a:endParaRPr lang="en-US" altLang="en-US" sz="1400"/>
          </a:p>
          <a:p>
            <a:endParaRPr lang="en-US" altLang="en-US" sz="1400"/>
          </a:p>
          <a:p>
            <a:r>
              <a:rPr lang="en-US" altLang="en-US" sz="1400"/>
              <a:t>paste:</a:t>
            </a:r>
            <a:endParaRPr lang="en-US" altLang="en-US" sz="1400"/>
          </a:p>
          <a:p>
            <a:r>
              <a:rPr lang="en-US" altLang="en-US" sz="1400"/>
              <a:t>{</a:t>
            </a:r>
            <a:endParaRPr lang="en-US" altLang="en-US" sz="1400"/>
          </a:p>
          <a:p>
            <a:r>
              <a:rPr lang="en-US" altLang="en-US" sz="1400"/>
              <a:t>  "MySQLTopologyUser": "repl",</a:t>
            </a:r>
            <a:endParaRPr lang="en-US" altLang="en-US" sz="1400"/>
          </a:p>
          <a:p>
            <a:r>
              <a:rPr lang="en-US" altLang="en-US" sz="1400"/>
              <a:t>  "MySQLTopologyPassword": "repl@123",</a:t>
            </a:r>
            <a:endParaRPr lang="en-US" altLang="en-US" sz="1400"/>
          </a:p>
          <a:p>
            <a:endParaRPr lang="en-US" altLang="en-US" sz="1400"/>
          </a:p>
          <a:p>
            <a:r>
              <a:rPr lang="en-US" altLang="en-US" sz="1400"/>
              <a:t>  "MySQLOrchestratorHost": "127.0.0.1",</a:t>
            </a:r>
            <a:endParaRPr lang="en-US" altLang="en-US" sz="1400"/>
          </a:p>
          <a:p>
            <a:r>
              <a:rPr lang="en-US" altLang="en-US" sz="1400"/>
              <a:t>  "MySQLOrchestratorPort": 3306,</a:t>
            </a:r>
            <a:endParaRPr lang="en-US" altLang="en-US" sz="1400"/>
          </a:p>
          <a:p>
            <a:endParaRPr lang="en-US" altLang="en-US" sz="1400"/>
          </a:p>
          <a:p>
            <a:r>
              <a:rPr lang="en-US" altLang="en-US" sz="1400"/>
              <a:t>  "DetectClusterAliasQuery": "SELECT 'prod'",</a:t>
            </a:r>
            <a:endParaRPr lang="en-US" altLang="en-US" sz="1400"/>
          </a:p>
          <a:p>
            <a:endParaRPr lang="en-US" altLang="en-US" sz="1400"/>
          </a:p>
          <a:p>
            <a:r>
              <a:rPr lang="en-US" altLang="en-US" sz="1400"/>
              <a:t>  "AutoFailover": true,</a:t>
            </a:r>
            <a:endParaRPr lang="en-US" altLang="en-US" sz="1400"/>
          </a:p>
          <a:p>
            <a:r>
              <a:rPr lang="en-US" altLang="en-US" sz="1400"/>
              <a:t>  "RecoveryPeriodBlockSeconds": 30</a:t>
            </a:r>
            <a:endParaRPr lang="en-US" altLang="en-US" sz="1400"/>
          </a:p>
          <a:p>
            <a:r>
              <a:rPr lang="en-US" altLang="en-US" sz="1400"/>
              <a:t>}</a:t>
            </a:r>
            <a:endParaRPr lang="en-US" altLang="en-US" sz="1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111760" y="108903"/>
            <a:ext cx="5080000" cy="6739255"/>
          </a:xfrm>
          <a:prstGeom prst="rect">
            <a:avLst/>
          </a:prstGeom>
        </p:spPr>
        <p:txBody>
          <a:bodyPr>
            <a:spAutoFit/>
          </a:bodyPr>
          <a:p>
            <a:r>
              <a:rPr sz="1600"/>
              <a:t>Start Orchestrator:</a:t>
            </a:r>
            <a:endParaRPr sz="1600"/>
          </a:p>
          <a:p>
            <a:r>
              <a:rPr lang="en-US" sz="1600"/>
              <a:t>bash:</a:t>
            </a:r>
            <a:endParaRPr sz="1600"/>
          </a:p>
          <a:p>
            <a:r>
              <a:rPr lang="en-US" altLang="en-US" sz="1600"/>
              <a:t>./orchestrator http</a:t>
            </a:r>
            <a:endParaRPr lang="en-US" altLang="en-US" sz="1600"/>
          </a:p>
          <a:p>
            <a:r>
              <a:rPr lang="en-US" altLang="en-US" sz="1600"/>
              <a:t>Open browser:</a:t>
            </a:r>
            <a:endParaRPr lang="en-US" altLang="en-US" sz="1600"/>
          </a:p>
          <a:p>
            <a:r>
              <a:rPr lang="en-US" altLang="en-US" sz="1600"/>
              <a:t>http://192.168.1.12:3000 # replica 2 server ip</a:t>
            </a:r>
            <a:endParaRPr lang="en-US" altLang="en-US" sz="1600"/>
          </a:p>
          <a:p>
            <a:endParaRPr lang="en-US" altLang="en-US" sz="1600"/>
          </a:p>
          <a:p>
            <a:endParaRPr lang="en-US" altLang="en-US" sz="1600"/>
          </a:p>
          <a:p>
            <a:r>
              <a:rPr lang="en-US" altLang="en-US" sz="1600" b="1"/>
              <a:t>STEP 7: Register Cluster in Orchestrator</a:t>
            </a:r>
            <a:endParaRPr lang="en-US" altLang="en-US" sz="1600" b="1"/>
          </a:p>
          <a:p>
            <a:r>
              <a:rPr lang="en-US" altLang="en-US" sz="1600"/>
              <a:t>On Server3:</a:t>
            </a:r>
            <a:endParaRPr lang="en-US" altLang="en-US" sz="1600"/>
          </a:p>
          <a:p>
            <a:endParaRPr lang="en-US" altLang="en-US" sz="1600"/>
          </a:p>
          <a:p>
            <a:r>
              <a:rPr lang="en-US" altLang="en-US" sz="1600"/>
              <a:t>bash:</a:t>
            </a:r>
            <a:endParaRPr lang="en-US" altLang="en-US" sz="1600"/>
          </a:p>
          <a:p>
            <a:r>
              <a:rPr lang="en-US" altLang="en-US" sz="1600"/>
              <a:t>./orchestrator-client -c discover -i 192.168.1.10 #server1 ip</a:t>
            </a:r>
            <a:endParaRPr lang="en-US" altLang="en-US" sz="1600"/>
          </a:p>
          <a:p>
            <a:endParaRPr lang="en-US" altLang="en-US" sz="1600"/>
          </a:p>
          <a:p>
            <a:r>
              <a:rPr lang="en-US" altLang="en-US" sz="1600" b="1"/>
              <a:t>STEP 8: Perform Failover Test (Stop Primary)</a:t>
            </a:r>
            <a:endParaRPr lang="en-US" altLang="en-US" sz="1600" b="1"/>
          </a:p>
          <a:p>
            <a:r>
              <a:rPr lang="en-US" altLang="en-US" sz="1600"/>
              <a:t>On Server 1:</a:t>
            </a:r>
            <a:endParaRPr lang="en-US" altLang="en-US" sz="1600"/>
          </a:p>
          <a:p>
            <a:r>
              <a:rPr lang="en-US" altLang="en-US" sz="1600"/>
              <a:t>systemctl stop mysql  # wait a 50 sec .</a:t>
            </a:r>
            <a:endParaRPr lang="en-US" altLang="en-US" sz="1600"/>
          </a:p>
          <a:p>
            <a:endParaRPr lang="en-US" altLang="en-US" sz="1600"/>
          </a:p>
          <a:p>
            <a:r>
              <a:rPr lang="en-US" altLang="en-US" sz="1600"/>
              <a:t>Orchestrator will:</a:t>
            </a:r>
            <a:endParaRPr lang="en-US" altLang="en-US" sz="1600"/>
          </a:p>
          <a:p>
            <a:endParaRPr lang="en-US" altLang="en-US" sz="1600"/>
          </a:p>
          <a:p>
            <a:r>
              <a:rPr lang="en-US" altLang="en-US" sz="1600">
                <a:solidFill>
                  <a:srgbClr val="00B050"/>
                </a:solidFill>
              </a:rPr>
              <a:t>✅</a:t>
            </a:r>
            <a:r>
              <a:rPr lang="en-US" altLang="en-US" sz="1600"/>
              <a:t> Detect failure</a:t>
            </a:r>
            <a:endParaRPr lang="en-US" altLang="en-US" sz="1600"/>
          </a:p>
          <a:p>
            <a:r>
              <a:rPr lang="en-US" altLang="en-US" sz="1600">
                <a:solidFill>
                  <a:srgbClr val="00B050"/>
                </a:solidFill>
              </a:rPr>
              <a:t>✅</a:t>
            </a:r>
            <a:r>
              <a:rPr lang="en-US" altLang="en-US" sz="1600"/>
              <a:t> Promote Server2 or Server3</a:t>
            </a:r>
            <a:endParaRPr lang="en-US" altLang="en-US" sz="1600"/>
          </a:p>
          <a:p>
            <a:r>
              <a:rPr lang="en-US" altLang="en-US" sz="1600">
                <a:solidFill>
                  <a:srgbClr val="00B050"/>
                </a:solidFill>
              </a:rPr>
              <a:t>✅</a:t>
            </a:r>
            <a:r>
              <a:rPr lang="en-US" altLang="en-US" sz="1600"/>
              <a:t> Reconfigure other replica</a:t>
            </a:r>
            <a:endParaRPr lang="en-US" altLang="en-US" sz="1600"/>
          </a:p>
          <a:p>
            <a:endParaRPr lang="en-US" altLang="en-US" sz="1600"/>
          </a:p>
          <a:p>
            <a:r>
              <a:rPr lang="en-US" altLang="en-US" sz="1600" b="1"/>
              <a:t>STEP 9: Verify New Primary</a:t>
            </a:r>
            <a:endParaRPr lang="en-US" altLang="en-US" sz="1600" b="1"/>
          </a:p>
          <a:p>
            <a:r>
              <a:rPr lang="en-US" altLang="en-US" sz="1600"/>
              <a:t>Login on primary server :</a:t>
            </a:r>
            <a:endParaRPr lang="en-US" altLang="en-US" sz="1600"/>
          </a:p>
          <a:p>
            <a:endParaRPr lang="en-US" altLang="en-US" sz="1600"/>
          </a:p>
          <a:p>
            <a:r>
              <a:rPr lang="en-US" altLang="en-US" sz="1600"/>
              <a:t>SHOW VARIABLES LIKE 'read_only';</a:t>
            </a:r>
            <a:endParaRPr lang="en-US" altLang="en-US" sz="1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141605" y="162242"/>
            <a:ext cx="5080000" cy="2020570"/>
          </a:xfrm>
          <a:prstGeom prst="rect">
            <a:avLst/>
          </a:prstGeom>
        </p:spPr>
        <p:txBody>
          <a:bodyPr>
            <a:spAutoFit/>
          </a:bodyPr>
          <a:p>
            <a:pPr>
              <a:spcAft>
                <a:spcPct val="60000"/>
              </a:spcAft>
            </a:pPr>
            <a:r>
              <a:rPr sz="2800" b="1">
                <a:highlight>
                  <a:srgbClr val="FFFF00"/>
                </a:highlight>
              </a:rPr>
              <a:t>⚠</a:t>
            </a:r>
            <a:r>
              <a:rPr b="1"/>
              <a:t>Production Best Practices</a:t>
            </a:r>
            <a:endParaRPr b="1"/>
          </a:p>
          <a:p>
            <a:r>
              <a:rPr lang="en-US" sz="1600"/>
              <a:t> </a:t>
            </a:r>
            <a:r>
              <a:rPr sz="1600">
                <a:solidFill>
                  <a:srgbClr val="00B050"/>
                </a:solidFill>
              </a:rPr>
              <a:t>✔</a:t>
            </a:r>
            <a:r>
              <a:rPr sz="1600"/>
              <a:t> Separate Orchestrator server</a:t>
            </a:r>
            <a:endParaRPr sz="1600"/>
          </a:p>
          <a:p>
            <a:r>
              <a:rPr sz="1600"/>
              <a:t> </a:t>
            </a:r>
            <a:r>
              <a:rPr sz="1600">
                <a:solidFill>
                  <a:srgbClr val="00B050"/>
                </a:solidFill>
              </a:rPr>
              <a:t>✔</a:t>
            </a:r>
            <a:r>
              <a:rPr sz="1600"/>
              <a:t> Use ProxySQL / Router</a:t>
            </a:r>
            <a:endParaRPr sz="1600"/>
          </a:p>
          <a:p>
            <a:r>
              <a:rPr sz="1600"/>
              <a:t> </a:t>
            </a:r>
            <a:r>
              <a:rPr sz="1600">
                <a:solidFill>
                  <a:srgbClr val="00B050"/>
                </a:solidFill>
              </a:rPr>
              <a:t>✔</a:t>
            </a:r>
            <a:r>
              <a:rPr sz="1600"/>
              <a:t> Enable backups</a:t>
            </a:r>
            <a:endParaRPr sz="1600"/>
          </a:p>
          <a:p>
            <a:r>
              <a:rPr sz="1600"/>
              <a:t> </a:t>
            </a:r>
            <a:r>
              <a:rPr sz="1600">
                <a:solidFill>
                  <a:srgbClr val="00B050"/>
                </a:solidFill>
              </a:rPr>
              <a:t>✔</a:t>
            </a:r>
            <a:r>
              <a:rPr sz="1600"/>
              <a:t> Monitor replication lag</a:t>
            </a:r>
            <a:endParaRPr sz="1600"/>
          </a:p>
          <a:p>
            <a:r>
              <a:rPr sz="1600"/>
              <a:t> </a:t>
            </a:r>
            <a:r>
              <a:rPr sz="1600">
                <a:solidFill>
                  <a:srgbClr val="00B050"/>
                </a:solidFill>
              </a:rPr>
              <a:t>✔</a:t>
            </a:r>
            <a:r>
              <a:rPr sz="1600"/>
              <a:t> Test failover regularly</a:t>
            </a:r>
            <a:endParaRPr sz="1600"/>
          </a:p>
        </p:txBody>
      </p:sp>
      <p:sp>
        <p:nvSpPr>
          <p:cNvPr id="3" name="Text Box 2"/>
          <p:cNvSpPr txBox="1"/>
          <p:nvPr/>
        </p:nvSpPr>
        <p:spPr>
          <a:xfrm>
            <a:off x="1049655" y="2115185"/>
            <a:ext cx="104781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/>
              <a:t>How to Add Old Primary Back as Replica (After Failover)</a:t>
            </a:r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141605" y="2786380"/>
            <a:ext cx="6096000" cy="39693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1400"/>
              <a:t>Old Primary   → DOWN → UP again</a:t>
            </a:r>
            <a:endParaRPr lang="en-US" altLang="en-US" sz="1400"/>
          </a:p>
          <a:p>
            <a:r>
              <a:rPr lang="en-US" altLang="en-US" sz="1400"/>
              <a:t>New Primary   → Running</a:t>
            </a:r>
            <a:endParaRPr lang="en-US" altLang="en-US" sz="1400"/>
          </a:p>
          <a:p>
            <a:r>
              <a:rPr lang="en-US" altLang="en-US" sz="1400"/>
              <a:t>Replica       → Running</a:t>
            </a:r>
            <a:endParaRPr lang="en-US" altLang="en-US" sz="1400"/>
          </a:p>
          <a:p>
            <a:endParaRPr lang="en-US" altLang="en-US" sz="1400"/>
          </a:p>
          <a:p>
            <a:r>
              <a:rPr lang="en-US" altLang="en-US" sz="1400"/>
              <a:t>Convert Old Primary → New Replica</a:t>
            </a:r>
            <a:endParaRPr lang="en-US" altLang="en-US" sz="1400"/>
          </a:p>
          <a:p>
            <a:endParaRPr lang="en-US" altLang="en-US" sz="1400"/>
          </a:p>
          <a:p>
            <a:r>
              <a:rPr lang="en-US" altLang="en-US" sz="1400" b="1"/>
              <a:t>STEP 1: Stop MySQL on Old Primary</a:t>
            </a:r>
            <a:endParaRPr lang="en-US" altLang="en-US" sz="1400" b="1"/>
          </a:p>
          <a:p>
            <a:r>
              <a:rPr lang="en-US" altLang="en-US" sz="1400"/>
              <a:t>systemctl stop mysql</a:t>
            </a:r>
            <a:endParaRPr lang="en-US" altLang="en-US" sz="1400"/>
          </a:p>
          <a:p>
            <a:endParaRPr lang="en-US" altLang="en-US" sz="1400"/>
          </a:p>
          <a:p>
            <a:r>
              <a:rPr lang="en-US" altLang="en-US" sz="1400"/>
              <a:t>(Optional but recommended: take backup of old data directory)</a:t>
            </a:r>
            <a:endParaRPr lang="en-US" altLang="en-US" sz="1400"/>
          </a:p>
          <a:p>
            <a:endParaRPr lang="en-US" altLang="en-US" sz="1400"/>
          </a:p>
          <a:p>
            <a:r>
              <a:rPr lang="en-US" altLang="en-US" sz="1400" b="1"/>
              <a:t>STEP 2: Clean Old Data (IMPORTANT)</a:t>
            </a:r>
            <a:endParaRPr lang="en-US" altLang="en-US" sz="1400" b="1"/>
          </a:p>
          <a:p>
            <a:r>
              <a:rPr lang="en-US" altLang="en-US" sz="1400"/>
              <a:t>rm -rf /var/lib/mysql/*</a:t>
            </a:r>
            <a:endParaRPr lang="en-US" altLang="en-US" sz="1400"/>
          </a:p>
          <a:p>
            <a:r>
              <a:rPr lang="zh-CN" altLang="en-US" sz="1400"/>
              <a:t>⚠</a:t>
            </a:r>
            <a:r>
              <a:rPr lang="" altLang="en-US" sz="1400"/>
              <a:t>️</a:t>
            </a:r>
            <a:r>
              <a:rPr lang="en-US" altLang="en-US" sz="1400"/>
              <a:t> Do this only if you are sure data is safe on new primary.</a:t>
            </a:r>
            <a:endParaRPr lang="en-US" altLang="en-US" sz="1400"/>
          </a:p>
          <a:p>
            <a:endParaRPr lang="en-US" altLang="en-US" sz="1400"/>
          </a:p>
          <a:p>
            <a:r>
              <a:rPr lang="en-US" altLang="en-US" sz="1400" b="1"/>
              <a:t>STEP 3: Start MySQL (Empty Instance)</a:t>
            </a:r>
            <a:endParaRPr lang="en-US" altLang="en-US" sz="1400" b="1"/>
          </a:p>
          <a:p>
            <a:r>
              <a:rPr lang="en-US" altLang="en-US" sz="1400"/>
              <a:t>systemctl start mysql</a:t>
            </a:r>
            <a:endParaRPr lang="en-US" altLang="en-US" sz="1400"/>
          </a:p>
          <a:p>
            <a:r>
              <a:rPr lang="en-US" altLang="en-US" sz="1400"/>
              <a:t>Now MySQL starts with fresh datadir.</a:t>
            </a:r>
            <a:endParaRPr lang="en-US" altLang="en-US" sz="1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 Box 4"/>
          <p:cNvSpPr txBox="1"/>
          <p:nvPr/>
        </p:nvSpPr>
        <p:spPr>
          <a:xfrm>
            <a:off x="73025" y="79375"/>
            <a:ext cx="6022975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1400" b="1"/>
              <a:t>STEP 4: Take Fresh Backup from New Primary</a:t>
            </a:r>
            <a:endParaRPr lang="en-US" altLang="en-US" sz="1400" b="1"/>
          </a:p>
          <a:p>
            <a:r>
              <a:rPr lang="en-US" altLang="en-US" sz="1400"/>
              <a:t>from New Primary :</a:t>
            </a:r>
            <a:endParaRPr lang="en-US" altLang="en-US" sz="1400"/>
          </a:p>
          <a:p>
            <a:r>
              <a:rPr lang="en-US" altLang="en-US" sz="1400"/>
              <a:t>mysqldump --all-databases --single-transaction --master-data=2 &gt; fullbackup.sql</a:t>
            </a:r>
            <a:endParaRPr lang="en-US" altLang="en-US" sz="1400"/>
          </a:p>
          <a:p>
            <a:endParaRPr lang="en-US" altLang="en-US" sz="1400"/>
          </a:p>
          <a:p>
            <a:r>
              <a:rPr lang="en-US" altLang="en-US" sz="1400"/>
              <a:t>OR (Better – Physical Backup):</a:t>
            </a:r>
            <a:endParaRPr lang="en-US" altLang="en-US" sz="1400"/>
          </a:p>
          <a:p>
            <a:r>
              <a:rPr lang="en-US" altLang="en-US" sz="1400"/>
              <a:t>xtrabackup --backup --target-dir=/backup/full</a:t>
            </a:r>
            <a:endParaRPr lang="en-US" altLang="en-US" sz="1400"/>
          </a:p>
          <a:p>
            <a:endParaRPr lang="en-US" altLang="en-US" sz="1400"/>
          </a:p>
          <a:p>
            <a:r>
              <a:rPr lang="en-US" altLang="en-US" sz="1400" b="1"/>
              <a:t>STEP 5: Restore Backup on Old Primary</a:t>
            </a:r>
            <a:endParaRPr lang="en-US" altLang="en-US" sz="1400" b="1"/>
          </a:p>
          <a:p>
            <a:r>
              <a:rPr lang="en-US" altLang="en-US" sz="1400"/>
              <a:t>Copy backup → Old Primary</a:t>
            </a:r>
            <a:endParaRPr lang="en-US" altLang="en-US" sz="1400"/>
          </a:p>
          <a:p>
            <a:endParaRPr lang="en-US" altLang="en-US" sz="1400"/>
          </a:p>
          <a:p>
            <a:r>
              <a:rPr lang="en-US" altLang="en-US" sz="1400"/>
              <a:t>mysql &lt; fullbackup.sql</a:t>
            </a:r>
            <a:endParaRPr lang="en-US" altLang="en-US" sz="1400"/>
          </a:p>
          <a:p>
            <a:endParaRPr lang="en-US" altLang="en-US" sz="1400"/>
          </a:p>
          <a:p>
            <a:r>
              <a:rPr lang="en-US" altLang="en-US" sz="1400" b="1"/>
              <a:t>STEP 6: Reset GTID (On Old Primary)</a:t>
            </a:r>
            <a:endParaRPr lang="en-US" altLang="en-US" sz="1400" b="1"/>
          </a:p>
          <a:p>
            <a:r>
              <a:rPr lang="en-US" altLang="en-US" sz="1400"/>
              <a:t>RESET MASTER;</a:t>
            </a:r>
            <a:endParaRPr lang="en-US" altLang="en-US" sz="1400"/>
          </a:p>
          <a:p>
            <a:endParaRPr lang="en-US" altLang="en-US" sz="1400"/>
          </a:p>
          <a:p>
            <a:r>
              <a:rPr lang="en-US" altLang="en-US" sz="1400" b="1"/>
              <a:t>STEP 7: Point Old Primary to New Primary</a:t>
            </a:r>
            <a:endParaRPr lang="en-US" altLang="en-US" sz="1400" b="1"/>
          </a:p>
          <a:p>
            <a:r>
              <a:rPr lang="en-US" altLang="en-US" sz="1400"/>
              <a:t>CHANGE MASTER TO</a:t>
            </a:r>
            <a:endParaRPr lang="en-US" altLang="en-US" sz="1400"/>
          </a:p>
          <a:p>
            <a:r>
              <a:rPr lang="en-US" altLang="en-US" sz="1400"/>
              <a:t>MASTER_HOST='NEW_PRIMARY_IP',</a:t>
            </a:r>
            <a:endParaRPr lang="en-US" altLang="en-US" sz="1400"/>
          </a:p>
          <a:p>
            <a:r>
              <a:rPr lang="en-US" altLang="en-US" sz="1400"/>
              <a:t>MASTER_USER='repl',</a:t>
            </a:r>
            <a:endParaRPr lang="en-US" altLang="en-US" sz="1400"/>
          </a:p>
          <a:p>
            <a:r>
              <a:rPr lang="en-US" altLang="en-US" sz="1400"/>
              <a:t>MASTER_PASSWORD='repl@123',</a:t>
            </a:r>
            <a:endParaRPr lang="en-US" altLang="en-US" sz="1400"/>
          </a:p>
          <a:p>
            <a:r>
              <a:rPr lang="en-US" altLang="en-US" sz="1400"/>
              <a:t>MASTER_AUTO_POSITION=1;</a:t>
            </a:r>
            <a:endParaRPr lang="en-US" altLang="en-US" sz="1400"/>
          </a:p>
          <a:p>
            <a:endParaRPr lang="en-US" altLang="en-US" sz="1400"/>
          </a:p>
          <a:p>
            <a:r>
              <a:rPr lang="en-US" altLang="en-US" sz="1400"/>
              <a:t>START SLAVE;</a:t>
            </a:r>
            <a:endParaRPr lang="en-US" altLang="en-US" sz="1400"/>
          </a:p>
          <a:p>
            <a:r>
              <a:rPr lang="en-US" altLang="en-US" sz="1400"/>
              <a:t>(MySQL 8+ → START REPLICA;)</a:t>
            </a:r>
            <a:endParaRPr lang="en-US" altLang="en-US" sz="1400"/>
          </a:p>
          <a:p>
            <a:endParaRPr lang="en-US" altLang="en-US" sz="1400"/>
          </a:p>
          <a:p>
            <a:r>
              <a:rPr lang="en-US" altLang="en-US" sz="1400" b="1"/>
              <a:t>STEP 8: Verify Replication</a:t>
            </a:r>
            <a:endParaRPr lang="en-US" altLang="en-US" sz="1400" b="1"/>
          </a:p>
          <a:p>
            <a:r>
              <a:rPr lang="en-US" altLang="en-US" sz="1400"/>
              <a:t>SHOW SLAVE STATUS\G</a:t>
            </a:r>
            <a:endParaRPr lang="en-US" altLang="en-US" sz="1400"/>
          </a:p>
          <a:p>
            <a:endParaRPr lang="en-US" altLang="en-US" sz="1400"/>
          </a:p>
          <a:p>
            <a:r>
              <a:rPr lang="en-US" altLang="en-US" sz="1400" b="1"/>
              <a:t>STEP 9: Register in Orchestrator (Optional)</a:t>
            </a:r>
            <a:endParaRPr lang="en-US" altLang="en-US" sz="1400" b="1"/>
          </a:p>
          <a:p>
            <a:r>
              <a:rPr lang="en-US" altLang="en-US" sz="1400"/>
              <a:t>orchestrator-client -c discover -i OLD_PRIMARY_IP</a:t>
            </a:r>
            <a:endParaRPr lang="en-US" altLang="en-US" sz="1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241935" y="216535"/>
            <a:ext cx="9770745" cy="40309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1600"/>
              <a:t>Alternative (Fastest Way – Using Clone Plugin MySQL 8+)</a:t>
            </a:r>
            <a:endParaRPr lang="en-US" altLang="en-US" sz="1600"/>
          </a:p>
          <a:p>
            <a:endParaRPr lang="en-US" altLang="en-US" sz="1600"/>
          </a:p>
          <a:p>
            <a:r>
              <a:rPr lang="en-US" altLang="en-US" sz="1600"/>
              <a:t>If you are on MySQL 8+, use CLONE (no dump/restore):</a:t>
            </a:r>
            <a:endParaRPr lang="en-US" altLang="en-US" sz="1600"/>
          </a:p>
          <a:p>
            <a:endParaRPr lang="en-US" altLang="en-US" sz="1600"/>
          </a:p>
          <a:p>
            <a:r>
              <a:rPr lang="en-US" altLang="en-US" sz="1600"/>
              <a:t>On BOTH Servers</a:t>
            </a:r>
            <a:endParaRPr lang="en-US" altLang="en-US" sz="1600"/>
          </a:p>
          <a:p>
            <a:endParaRPr lang="en-US" altLang="en-US" sz="1600"/>
          </a:p>
          <a:p>
            <a:r>
              <a:rPr lang="en-US" altLang="en-US" sz="1600"/>
              <a:t>On New Primary:</a:t>
            </a:r>
            <a:endParaRPr lang="en-US" altLang="en-US" sz="1600"/>
          </a:p>
          <a:p>
            <a:r>
              <a:rPr lang="en-US" altLang="en-US" sz="1600"/>
              <a:t>INSTALL PLUGIN clone SONAME 'mysql_clone.so';</a:t>
            </a:r>
            <a:endParaRPr lang="en-US" altLang="en-US" sz="1600"/>
          </a:p>
          <a:p>
            <a:endParaRPr lang="en-US" altLang="en-US" sz="1600"/>
          </a:p>
          <a:p>
            <a:r>
              <a:rPr lang="en-US" altLang="en-US" sz="1600"/>
              <a:t>On Old Primary:</a:t>
            </a:r>
            <a:endParaRPr lang="en-US" altLang="en-US" sz="1600"/>
          </a:p>
          <a:p>
            <a:r>
              <a:rPr lang="en-US" altLang="en-US" sz="1600"/>
              <a:t>INSTALL PLUGIN clone SONAME 'mysql_clone.so';</a:t>
            </a:r>
            <a:endParaRPr lang="en-US" altLang="en-US" sz="1600"/>
          </a:p>
          <a:p>
            <a:endParaRPr lang="en-US" altLang="en-US" sz="1600"/>
          </a:p>
          <a:p>
            <a:r>
              <a:rPr lang="en-US" altLang="en-US" sz="1600"/>
              <a:t>Login to OLD Primary (Future Replica)</a:t>
            </a:r>
            <a:endParaRPr lang="en-US" altLang="en-US" sz="1600"/>
          </a:p>
          <a:p>
            <a:endParaRPr lang="en-US" altLang="en-US" sz="1600"/>
          </a:p>
          <a:p>
            <a:r>
              <a:rPr lang="en-US" altLang="en-US" sz="1600"/>
              <a:t>CLONE INSTANCE FROM 'repl'@'NEW_PRIMARY_IP':3306 IDENTIFIED BY 'repl@123';</a:t>
            </a:r>
            <a:endParaRPr lang="en-US" altLang="en-US" sz="1600"/>
          </a:p>
          <a:p>
            <a:r>
              <a:rPr lang="en-US" altLang="en-US" sz="1600"/>
              <a:t>Restart MySQL → It becomes replica automatically</a:t>
            </a:r>
            <a:endParaRPr lang="en-US" altLang="en-US" sz="16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432*100"/>
  <p:tag name="TABLE_ENDDRAG_RECT" val="12*39*432*10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5032</Words>
  <Application>WPS Presentation</Application>
  <PresentationFormat>Widescreen</PresentationFormat>
  <Paragraphs>285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Arial</vt:lpstr>
      <vt:lpstr>SimSun</vt:lpstr>
      <vt:lpstr>Wingdings</vt:lpstr>
      <vt:lpstr>Arial Unicode MS</vt:lpstr>
      <vt:lpstr>Calibri Light</vt:lpstr>
      <vt:lpstr>Calibri</vt:lpstr>
      <vt:lpstr>Microsoft YaHei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MySQL Day 16</dc:title>
  <dc:creator>opo.test1</dc:creator>
  <cp:lastModifiedBy>opo.test1</cp:lastModifiedBy>
  <cp:revision>52</cp:revision>
  <dcterms:created xsi:type="dcterms:W3CDTF">2026-03-02T10:43:45Z</dcterms:created>
  <dcterms:modified xsi:type="dcterms:W3CDTF">2026-03-02T12:24:20Z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006DAECF21E44845AB7CB5972242B157_11</vt:lpwstr>
  </property>
  <property fmtid="{D5CDD505-2E9C-101B-9397-08002B2CF9AE}" pid="3" name="KSOProductBuildVer">
    <vt:lpwstr>1033-12.2.0.21931</vt:lpwstr>
  </property>
</Properties>
</file>