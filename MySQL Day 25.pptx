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E17BD-44D7-C195-756E-6C04062AF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4B3C8-BCC6-65E3-269E-DABC179BC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878C8-5EDD-E9DA-1FD6-81339821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0FAD0-0EC4-BF85-676B-25B5F0A6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8F541-096D-29B3-6C8D-3F3E3918D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9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6AAE-AD86-2064-27D5-577025E9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14C73-DC5E-EE2B-BED7-E757979B9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D6646-44C6-9B09-2DF4-42B83A92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2268A-C253-2064-AEAB-CF60A33B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E8AE9-7566-CE87-5772-01CE84AC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24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90A-F967-C4A1-1FA5-B8DBD00E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8F0DA-CF99-C6DC-D3F0-7CB8E095F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18E79-3150-F527-115D-64DA946A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832DC-8CD5-121C-1298-92A94EFA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30758-1F25-790D-041F-538C73C8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862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ABA3E-C937-E081-3225-B141DC82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A366B-8337-0063-C628-9C3AC7726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86BCF-3ED0-E99B-7E2A-3927F9199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1DA45-D93B-7F86-6AEE-D70EE2239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10357-9A8F-EE65-C22C-5BE1D110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CE866-36AA-103E-7CC4-6210466E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19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8539-DA9C-364F-81FF-D588B43D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4F1FD-8D51-DB98-AC8E-60049B91C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C9420-E5C1-F9ED-1B7C-A6823E747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A5AD2-4828-F255-FA89-8278D64A3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8696C-519A-9320-E0DA-6EDF6A654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5AEBF-C3A6-6128-CED9-EAA7D6F5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F69C0-4F7E-CCA9-231A-403F8C53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744C6-18DE-1C1F-D7F6-6C4160C2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768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12F2-09FA-4ACD-0CBB-26866D27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135BD-EA2D-5017-77B7-688A3ABA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D8B07-2C19-E8B6-2221-61F979867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56508-9163-3CDA-6C79-BCFEDCDD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84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B9702-D5CA-A898-877F-2520CCAC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77F12-5A8B-FD1A-288A-01A434CF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F9668-31DF-6A97-2773-325077B8A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90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0993-40C6-AB3B-9DA5-853DD824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E50D0-A85E-7B40-AEBE-9FDF821A9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892ED-9C2C-F144-5EC9-585DC0BD1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107D1-1327-C7CF-7E8A-041E044EC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BB160-CB37-A725-65C2-66696381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E15F5-D252-4DE0-BA76-6D45AF2E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31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5DDE-A0C3-4B74-2CF5-013339422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46E30-FF6F-F35F-3839-B35DAE122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2876E-ECE5-8122-0B0B-CAE30B1B9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6DF8E-557E-8C32-A22E-A572CAB53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9E68F-7362-9911-D196-2387CC40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B8F11-B9DF-B671-B6D4-46A33BE2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41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451A-654A-A414-4223-A702BD16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5BA59-23A6-D69D-8A7E-0F0ABD2CB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CB637-22D5-C52A-4E53-2A80A912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ED965-58E6-4E58-78BD-7F7874F9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42F2E-E4C7-8EE6-A3E0-8F7A59024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54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13EFF9-E1D8-E523-B23A-BBDB21BAC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6A930-1346-A3AE-6A22-6B8498712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01611-DB75-4231-E4F4-BD76D822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D3491-4278-283E-27F2-14384EBD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B61D6-EBEC-C1E5-86B4-5FAF7358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F21556-8244-822B-F5A0-1FA64C43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2627D-4740-5E12-09C8-D03C077A7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2BB06-6136-3085-2D13-7788289CF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D1DAD-22DE-4185-B4F5-4432BBDC476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1AC46-0595-32FE-E886-3FCBB73CC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17655-E1C3-EBF3-8201-9DAB79836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4F6E0-0F6C-4AA4-A32C-333611895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56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95829-0491-084D-2D12-458748ED19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MySQL Day 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69999-82BB-4EBF-D165-AC8EB556F4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Day 25: MySQL Automation &amp; DBA Scripting</a:t>
            </a:r>
          </a:p>
          <a:p>
            <a:r>
              <a:rPr lang="en-US" dirty="0"/>
              <a:t>In real companies, DBAs cannot manually manage every task. Production environments may have </a:t>
            </a:r>
            <a:r>
              <a:rPr lang="en-US" b="1" dirty="0"/>
              <a:t>dozens or hundreds of database servers</a:t>
            </a:r>
            <a:r>
              <a:rPr lang="en-US" dirty="0"/>
              <a:t>, so DBAs automate routine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640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54854-C455-AFC1-F08D-A7448444A25C}"/>
              </a:ext>
            </a:extLst>
          </p:cNvPr>
          <p:cNvSpPr txBox="1"/>
          <p:nvPr/>
        </p:nvSpPr>
        <p:spPr>
          <a:xfrm>
            <a:off x="186813" y="283043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25 Objectives</a:t>
            </a:r>
          </a:p>
          <a:p>
            <a:r>
              <a:rPr lang="en-US" dirty="0"/>
              <a:t>By the end of today you will understand:</a:t>
            </a:r>
          </a:p>
          <a:p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Why automation is important for DBAs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How DBAs automate backups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Health-check scripts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Using </a:t>
            </a:r>
            <a:r>
              <a:rPr lang="en-US" dirty="0" err="1"/>
              <a:t>cron</a:t>
            </a:r>
            <a:r>
              <a:rPr lang="en-US" dirty="0"/>
              <a:t> jobs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Simple shell scripts for MySQL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✔</a:t>
            </a:r>
            <a:r>
              <a:rPr lang="en-US" dirty="0"/>
              <a:t> Production automation practices</a:t>
            </a:r>
          </a:p>
          <a:p>
            <a:endParaRPr lang="en-IN" dirty="0"/>
          </a:p>
          <a:p>
            <a:r>
              <a:rPr lang="en-IN" dirty="0"/>
              <a:t>Backups</a:t>
            </a:r>
          </a:p>
          <a:p>
            <a:r>
              <a:rPr lang="en-IN" dirty="0"/>
              <a:t>Monitoring</a:t>
            </a:r>
          </a:p>
          <a:p>
            <a:r>
              <a:rPr lang="en-IN" dirty="0"/>
              <a:t>Health checks</a:t>
            </a:r>
          </a:p>
          <a:p>
            <a:r>
              <a:rPr lang="en-IN" dirty="0"/>
              <a:t>Log cleanup</a:t>
            </a:r>
          </a:p>
          <a:p>
            <a:r>
              <a:rPr lang="en-IN" dirty="0"/>
              <a:t>Replication checks</a:t>
            </a:r>
          </a:p>
          <a:p>
            <a:r>
              <a:rPr lang="en-IN" dirty="0"/>
              <a:t>Alerts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6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F26C6F-C164-4466-4138-63ED5B18BE87}"/>
              </a:ext>
            </a:extLst>
          </p:cNvPr>
          <p:cNvSpPr txBox="1"/>
          <p:nvPr/>
        </p:nvSpPr>
        <p:spPr>
          <a:xfrm>
            <a:off x="98323" y="110302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1️⃣ Why Automation is Important</a:t>
            </a:r>
          </a:p>
          <a:p>
            <a:endParaRPr lang="en-US" dirty="0"/>
          </a:p>
          <a:p>
            <a:r>
              <a:rPr lang="en-IN" dirty="0"/>
              <a:t>Manual operations cause problems: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Automation provides:</a:t>
            </a:r>
          </a:p>
          <a:p>
            <a:r>
              <a:rPr lang="en-IN" dirty="0">
                <a:solidFill>
                  <a:srgbClr val="00B050"/>
                </a:solidFill>
              </a:rPr>
              <a:t>✔</a:t>
            </a:r>
            <a:r>
              <a:rPr lang="en-IN" dirty="0"/>
              <a:t> consistency</a:t>
            </a:r>
            <a:br>
              <a:rPr lang="en-IN" dirty="0"/>
            </a:br>
            <a:r>
              <a:rPr lang="en-IN" dirty="0">
                <a:solidFill>
                  <a:srgbClr val="00B050"/>
                </a:solidFill>
              </a:rPr>
              <a:t>✔</a:t>
            </a:r>
            <a:r>
              <a:rPr lang="en-IN" dirty="0"/>
              <a:t> reliability</a:t>
            </a:r>
            <a:br>
              <a:rPr lang="en-IN" dirty="0"/>
            </a:br>
            <a:r>
              <a:rPr lang="en-IN" dirty="0">
                <a:solidFill>
                  <a:srgbClr val="00B050"/>
                </a:solidFill>
              </a:rPr>
              <a:t>✔</a:t>
            </a:r>
            <a:r>
              <a:rPr lang="en-IN" dirty="0"/>
              <a:t> faster operations</a:t>
            </a:r>
          </a:p>
          <a:p>
            <a:endParaRPr lang="en-IN" dirty="0"/>
          </a:p>
          <a:p>
            <a:r>
              <a:rPr lang="en-US" b="1" dirty="0"/>
              <a:t>2️⃣ Common DBA Tasks to Automate</a:t>
            </a:r>
          </a:p>
          <a:p>
            <a:r>
              <a:rPr lang="en-US" dirty="0"/>
              <a:t>Typical automated tasks:</a:t>
            </a:r>
          </a:p>
          <a:p>
            <a:endParaRPr lang="en-IN" dirty="0"/>
          </a:p>
          <a:p>
            <a:r>
              <a:rPr lang="en-US" dirty="0"/>
              <a:t>Daily database backups</a:t>
            </a:r>
          </a:p>
          <a:p>
            <a:r>
              <a:rPr lang="en-US" dirty="0"/>
              <a:t>Replication status checks</a:t>
            </a:r>
          </a:p>
          <a:p>
            <a:r>
              <a:rPr lang="en-US" dirty="0"/>
              <a:t>Disk usage monitoring</a:t>
            </a:r>
          </a:p>
          <a:p>
            <a:r>
              <a:rPr lang="en-US" dirty="0"/>
              <a:t>Slow query log rotation</a:t>
            </a:r>
          </a:p>
          <a:p>
            <a:r>
              <a:rPr lang="en-US" dirty="0"/>
              <a:t>Alert notifications</a:t>
            </a:r>
          </a:p>
          <a:p>
            <a:r>
              <a:rPr lang="en-US" dirty="0"/>
              <a:t>Database health reports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3E9245-A555-8562-8F20-817CE0DB5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677056"/>
              </p:ext>
            </p:extLst>
          </p:nvPr>
        </p:nvGraphicFramePr>
        <p:xfrm>
          <a:off x="98323" y="1067347"/>
          <a:ext cx="4404852" cy="1477328"/>
        </p:xfrm>
        <a:graphic>
          <a:graphicData uri="http://schemas.openxmlformats.org/drawingml/2006/table">
            <a:tbl>
              <a:tblPr/>
              <a:tblGrid>
                <a:gridCol w="2202426">
                  <a:extLst>
                    <a:ext uri="{9D8B030D-6E8A-4147-A177-3AD203B41FA5}">
                      <a16:colId xmlns:a16="http://schemas.microsoft.com/office/drawing/2014/main" val="2942961873"/>
                    </a:ext>
                  </a:extLst>
                </a:gridCol>
                <a:gridCol w="2202426">
                  <a:extLst>
                    <a:ext uri="{9D8B030D-6E8A-4147-A177-3AD203B41FA5}">
                      <a16:colId xmlns:a16="http://schemas.microsoft.com/office/drawing/2014/main" val="248400366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95766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Wrong 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74223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Missed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Backup not executed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203713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 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Issue detected 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6618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BB025D-A90D-1EBD-DCFC-4EAE0C8D291A}"/>
              </a:ext>
            </a:extLst>
          </p:cNvPr>
          <p:cNvSpPr txBox="1"/>
          <p:nvPr/>
        </p:nvSpPr>
        <p:spPr>
          <a:xfrm>
            <a:off x="5633884" y="31572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tasks are usually automated using </a:t>
            </a:r>
            <a:r>
              <a:rPr lang="en-US" b="1" dirty="0"/>
              <a:t>shell scripts and </a:t>
            </a:r>
            <a:r>
              <a:rPr lang="en-US" b="1" dirty="0" err="1"/>
              <a:t>cron</a:t>
            </a:r>
            <a:r>
              <a:rPr lang="en-US" b="1" dirty="0"/>
              <a:t> jobs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53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30DB99-C427-2E75-59F4-EC28DA9A1018}"/>
              </a:ext>
            </a:extLst>
          </p:cNvPr>
          <p:cNvSpPr txBox="1"/>
          <p:nvPr/>
        </p:nvSpPr>
        <p:spPr>
          <a:xfrm>
            <a:off x="176981" y="169295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3️⃣ Cron Jobs (Task Scheduler)</a:t>
            </a:r>
          </a:p>
          <a:p>
            <a:endParaRPr lang="en-US" dirty="0"/>
          </a:p>
          <a:p>
            <a:r>
              <a:rPr lang="en-US" dirty="0"/>
              <a:t>Linux uses </a:t>
            </a:r>
            <a:r>
              <a:rPr lang="en-US" b="1" dirty="0" err="1"/>
              <a:t>cron</a:t>
            </a:r>
            <a:r>
              <a:rPr lang="en-US" dirty="0"/>
              <a:t> to schedule tasks.</a:t>
            </a:r>
          </a:p>
          <a:p>
            <a:r>
              <a:rPr lang="en-US" dirty="0"/>
              <a:t>Open </a:t>
            </a:r>
            <a:r>
              <a:rPr lang="en-US" dirty="0" err="1"/>
              <a:t>cron</a:t>
            </a:r>
            <a:r>
              <a:rPr lang="en-US" dirty="0"/>
              <a:t> configuration:</a:t>
            </a:r>
          </a:p>
          <a:p>
            <a:endParaRPr lang="en-IN" dirty="0"/>
          </a:p>
          <a:p>
            <a:r>
              <a:rPr lang="en-IN" dirty="0"/>
              <a:t>crontab –e</a:t>
            </a:r>
          </a:p>
          <a:p>
            <a:r>
              <a:rPr lang="en-US" dirty="0"/>
              <a:t>0 2 * * * /scripts/mysql_backup.sh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Means : </a:t>
            </a:r>
            <a:r>
              <a:rPr lang="en-US" dirty="0"/>
              <a:t>Run backup every day at 2 AM</a:t>
            </a:r>
          </a:p>
          <a:p>
            <a:r>
              <a:rPr lang="en-IN" dirty="0" err="1"/>
              <a:t>Cront</a:t>
            </a:r>
            <a:r>
              <a:rPr lang="en-IN" dirty="0"/>
              <a:t> </a:t>
            </a:r>
            <a:r>
              <a:rPr lang="en-IN" dirty="0" err="1"/>
              <a:t>formate</a:t>
            </a:r>
            <a:r>
              <a:rPr lang="en-IN" dirty="0"/>
              <a:t>:</a:t>
            </a:r>
          </a:p>
          <a:p>
            <a:r>
              <a:rPr lang="en-US" dirty="0"/>
              <a:t>Minute Hour Day Month Weekday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20D722-2E07-BE69-424E-92AF40594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2239728"/>
            <a:ext cx="3086367" cy="3962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90E411-017E-EC71-0D53-57047A1A2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1" y="2636002"/>
            <a:ext cx="2895851" cy="358171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E14F304-0AE5-2621-F03C-09A52B258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68826"/>
              </p:ext>
            </p:extLst>
          </p:nvPr>
        </p:nvGraphicFramePr>
        <p:xfrm>
          <a:off x="176981" y="4076018"/>
          <a:ext cx="3844414" cy="1626692"/>
        </p:xfrm>
        <a:graphic>
          <a:graphicData uri="http://schemas.openxmlformats.org/drawingml/2006/table">
            <a:tbl>
              <a:tblPr/>
              <a:tblGrid>
                <a:gridCol w="1922207">
                  <a:extLst>
                    <a:ext uri="{9D8B030D-6E8A-4147-A177-3AD203B41FA5}">
                      <a16:colId xmlns:a16="http://schemas.microsoft.com/office/drawing/2014/main" val="1219085356"/>
                    </a:ext>
                  </a:extLst>
                </a:gridCol>
                <a:gridCol w="1922207">
                  <a:extLst>
                    <a:ext uri="{9D8B030D-6E8A-4147-A177-3AD203B41FA5}">
                      <a16:colId xmlns:a16="http://schemas.microsoft.com/office/drawing/2014/main" val="4068992658"/>
                    </a:ext>
                  </a:extLst>
                </a:gridCol>
              </a:tblGrid>
              <a:tr h="406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Cron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974006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2 * * 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Daily 2 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047916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 * * * 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Every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288315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*/5 * * * 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Every 5 minutes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47045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5C89784-415B-7A9D-217E-25714847F7DB}"/>
              </a:ext>
            </a:extLst>
          </p:cNvPr>
          <p:cNvSpPr txBox="1"/>
          <p:nvPr/>
        </p:nvSpPr>
        <p:spPr>
          <a:xfrm>
            <a:off x="5053780" y="169295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4️⃣ Automated Backup Script</a:t>
            </a:r>
          </a:p>
          <a:p>
            <a:pPr>
              <a:buNone/>
            </a:pPr>
            <a:r>
              <a:rPr lang="en-US" dirty="0"/>
              <a:t>Example backup script.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#!/bin/bash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DATE=$(date +%F)</a:t>
            </a:r>
          </a:p>
          <a:p>
            <a:pPr>
              <a:buNone/>
            </a:pPr>
            <a:r>
              <a:rPr lang="en-US" dirty="0"/>
              <a:t>BACKUP_DIR="/backup/</a:t>
            </a:r>
            <a:r>
              <a:rPr lang="en-US" dirty="0" err="1"/>
              <a:t>mysql</a:t>
            </a:r>
            <a:r>
              <a:rPr lang="en-US" dirty="0"/>
              <a:t>"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mysqldump</a:t>
            </a:r>
            <a:r>
              <a:rPr lang="en-US" dirty="0"/>
              <a:t> -u root -</a:t>
            </a:r>
            <a:r>
              <a:rPr lang="en-US" dirty="0" err="1"/>
              <a:t>pPassword</a:t>
            </a:r>
            <a:r>
              <a:rPr lang="en-US" dirty="0"/>
              <a:t> --all-databases &gt; $BACKUP_DIR/mysql_backup_$</a:t>
            </a:r>
            <a:r>
              <a:rPr lang="en-US" dirty="0" err="1"/>
              <a:t>DATE.sql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Save as :</a:t>
            </a:r>
            <a:r>
              <a:rPr lang="en-IN" dirty="0"/>
              <a:t>mysql_backup.sh</a:t>
            </a:r>
          </a:p>
          <a:p>
            <a:pPr>
              <a:buNone/>
            </a:pPr>
            <a:r>
              <a:rPr lang="en-IN" dirty="0"/>
              <a:t>Make executable:</a:t>
            </a:r>
          </a:p>
          <a:p>
            <a:pPr>
              <a:buNone/>
            </a:pPr>
            <a:r>
              <a:rPr lang="en-US" dirty="0" err="1"/>
              <a:t>chmod</a:t>
            </a:r>
            <a:r>
              <a:rPr lang="en-US" dirty="0"/>
              <a:t> +x mysql_backup.sh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Schedule with </a:t>
            </a:r>
            <a:r>
              <a:rPr lang="en-US" dirty="0" err="1"/>
              <a:t>cron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0 2 * * * /scripts/mysql_backup.sh</a:t>
            </a:r>
          </a:p>
        </p:txBody>
      </p:sp>
    </p:spTree>
    <p:extLst>
      <p:ext uri="{BB962C8B-B14F-4D97-AF65-F5344CB8AC3E}">
        <p14:creationId xmlns:p14="http://schemas.microsoft.com/office/powerpoint/2010/main" val="253430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332</Words>
  <Application>Microsoft Office PowerPoint</Application>
  <PresentationFormat>Widescreen</PresentationFormat>
  <Paragraphs>83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MySQL Day 25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AJIT YADAV</dc:creator>
  <cp:lastModifiedBy>AJIT YADAV</cp:lastModifiedBy>
  <cp:revision>18</cp:revision>
  <dcterms:created xsi:type="dcterms:W3CDTF">2026-03-07T16:27:58Z</dcterms:created>
  <dcterms:modified xsi:type="dcterms:W3CDTF">2026-03-14T07:24:47Z</dcterms:modified>
</cp:coreProperties>
</file>